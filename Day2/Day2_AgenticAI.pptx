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5" r:id="rId16"/>
    <p:sldId id="276" r:id="rId17"/>
    <p:sldId id="281" r:id="rId18"/>
    <p:sldId id="282" r:id="rId19"/>
    <p:sldId id="287" r:id="rId20"/>
    <p:sldId id="291" r:id="rId21"/>
    <p:sldId id="292" r:id="rId22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658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9397" y="686688"/>
            <a:ext cx="4299585" cy="764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33339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1125"/>
            <a:ext cx="9139236" cy="4762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881125"/>
            <a:ext cx="9139555" cy="47625"/>
          </a:xfrm>
          <a:custGeom>
            <a:avLst/>
            <a:gdLst/>
            <a:ahLst/>
            <a:cxnLst/>
            <a:rect l="l" t="t" r="r" b="b"/>
            <a:pathLst>
              <a:path w="9139555" h="47625">
                <a:moveTo>
                  <a:pt x="0" y="47625"/>
                </a:moveTo>
                <a:lnTo>
                  <a:pt x="9139236" y="47625"/>
                </a:lnTo>
                <a:lnTo>
                  <a:pt x="9139236" y="0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10062"/>
            <a:ext cx="9144000" cy="83343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4310062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91440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33339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1125"/>
            <a:ext cx="9139236" cy="4762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881125"/>
            <a:ext cx="9139555" cy="47625"/>
          </a:xfrm>
          <a:custGeom>
            <a:avLst/>
            <a:gdLst/>
            <a:ahLst/>
            <a:cxnLst/>
            <a:rect l="l" t="t" r="r" b="b"/>
            <a:pathLst>
              <a:path w="9139555" h="47625">
                <a:moveTo>
                  <a:pt x="0" y="47625"/>
                </a:moveTo>
                <a:lnTo>
                  <a:pt x="9139236" y="47625"/>
                </a:lnTo>
                <a:lnTo>
                  <a:pt x="9139236" y="0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10062"/>
            <a:ext cx="9144000" cy="83343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4310062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91440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9572" y="977899"/>
            <a:ext cx="4063365" cy="302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33339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10759" y="1015999"/>
            <a:ext cx="3938270" cy="2657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33339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3" y="52451"/>
            <a:ext cx="9139236" cy="4762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763" y="52451"/>
            <a:ext cx="9139555" cy="47625"/>
          </a:xfrm>
          <a:custGeom>
            <a:avLst/>
            <a:gdLst/>
            <a:ahLst/>
            <a:cxnLst/>
            <a:rect l="l" t="t" r="r" b="b"/>
            <a:pathLst>
              <a:path w="9139555" h="47625">
                <a:moveTo>
                  <a:pt x="9139236" y="0"/>
                </a:moveTo>
                <a:lnTo>
                  <a:pt x="0" y="0"/>
                </a:lnTo>
                <a:lnTo>
                  <a:pt x="0" y="47625"/>
                </a:lnTo>
                <a:lnTo>
                  <a:pt x="9139236" y="476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81125"/>
            <a:ext cx="9139236" cy="4762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881125"/>
            <a:ext cx="9139555" cy="47625"/>
          </a:xfrm>
          <a:custGeom>
            <a:avLst/>
            <a:gdLst/>
            <a:ahLst/>
            <a:cxnLst/>
            <a:rect l="l" t="t" r="r" b="b"/>
            <a:pathLst>
              <a:path w="9139555" h="47625">
                <a:moveTo>
                  <a:pt x="0" y="47625"/>
                </a:moveTo>
                <a:lnTo>
                  <a:pt x="9139236" y="47625"/>
                </a:lnTo>
                <a:lnTo>
                  <a:pt x="9139236" y="0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3002" y="113093"/>
            <a:ext cx="6817995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3095" y="981582"/>
            <a:ext cx="7877809" cy="1886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33339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48175" y="4831635"/>
            <a:ext cx="280035" cy="207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jpe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8.png"/><Relationship Id="rId7" Type="http://schemas.openxmlformats.org/officeDocument/2006/relationships/image" Target="../media/image2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image" Target="../media/image36.png"/><Relationship Id="rId18" Type="http://schemas.openxmlformats.org/officeDocument/2006/relationships/image" Target="../media/image41.jpeg"/><Relationship Id="rId3" Type="http://schemas.openxmlformats.org/officeDocument/2006/relationships/image" Target="../media/image26.png"/><Relationship Id="rId21" Type="http://schemas.openxmlformats.org/officeDocument/2006/relationships/image" Target="../media/image44.jpeg"/><Relationship Id="rId7" Type="http://schemas.openxmlformats.org/officeDocument/2006/relationships/image" Target="../media/image30.jpeg"/><Relationship Id="rId12" Type="http://schemas.openxmlformats.org/officeDocument/2006/relationships/image" Target="../media/image35.jpeg"/><Relationship Id="rId17" Type="http://schemas.openxmlformats.org/officeDocument/2006/relationships/image" Target="../media/image40.jpeg"/><Relationship Id="rId2" Type="http://schemas.openxmlformats.org/officeDocument/2006/relationships/image" Target="../media/image1.png"/><Relationship Id="rId16" Type="http://schemas.openxmlformats.org/officeDocument/2006/relationships/image" Target="../media/image39.jpeg"/><Relationship Id="rId20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11" Type="http://schemas.openxmlformats.org/officeDocument/2006/relationships/image" Target="../media/image34.jpeg"/><Relationship Id="rId5" Type="http://schemas.openxmlformats.org/officeDocument/2006/relationships/image" Target="../media/image28.png"/><Relationship Id="rId15" Type="http://schemas.openxmlformats.org/officeDocument/2006/relationships/image" Target="../media/image38.jpeg"/><Relationship Id="rId23" Type="http://schemas.openxmlformats.org/officeDocument/2006/relationships/image" Target="../media/image46.jpeg"/><Relationship Id="rId10" Type="http://schemas.openxmlformats.org/officeDocument/2006/relationships/image" Target="../media/image33.png"/><Relationship Id="rId19" Type="http://schemas.openxmlformats.org/officeDocument/2006/relationships/image" Target="../media/image42.jpe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jpeg"/><Relationship Id="rId22" Type="http://schemas.openxmlformats.org/officeDocument/2006/relationships/image" Target="../media/image4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1.png"/><Relationship Id="rId4" Type="http://schemas.openxmlformats.org/officeDocument/2006/relationships/image" Target="../media/image5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autogen-ai.github.io/autogen/docs/notebooks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876363"/>
            <a:ext cx="9149080" cy="57150"/>
            <a:chOff x="-4762" y="876363"/>
            <a:chExt cx="9149080" cy="57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81125"/>
              <a:ext cx="9139236" cy="476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881125"/>
              <a:ext cx="9139555" cy="47625"/>
            </a:xfrm>
            <a:custGeom>
              <a:avLst/>
              <a:gdLst/>
              <a:ahLst/>
              <a:cxnLst/>
              <a:rect l="l" t="t" r="r" b="b"/>
              <a:pathLst>
                <a:path w="9139555" h="47625">
                  <a:moveTo>
                    <a:pt x="0" y="47625"/>
                  </a:moveTo>
                  <a:lnTo>
                    <a:pt x="9139236" y="47625"/>
                  </a:lnTo>
                  <a:lnTo>
                    <a:pt x="9139236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61003" y="113664"/>
            <a:ext cx="222948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333399"/>
                </a:solidFill>
                <a:latin typeface="Calibri"/>
                <a:cs typeface="Calibri"/>
              </a:rPr>
              <a:t>LLM</a:t>
            </a:r>
            <a:r>
              <a:rPr b="1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333399"/>
                </a:solidFill>
                <a:latin typeface="Calibri"/>
                <a:cs typeface="Calibri"/>
              </a:rPr>
              <a:t>Agents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18659" y="4831635"/>
            <a:ext cx="117475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400" b="1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8372" y="1977707"/>
            <a:ext cx="737489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1" dirty="0">
                <a:latin typeface="Calibri"/>
                <a:cs typeface="Calibri"/>
              </a:rPr>
              <a:t>Agentic</a:t>
            </a:r>
            <a:r>
              <a:rPr sz="3950" b="1" spc="20" dirty="0">
                <a:latin typeface="Calibri"/>
                <a:cs typeface="Calibri"/>
              </a:rPr>
              <a:t> </a:t>
            </a:r>
            <a:r>
              <a:rPr sz="3950" b="1" dirty="0">
                <a:latin typeface="Calibri"/>
                <a:cs typeface="Calibri"/>
              </a:rPr>
              <a:t>AI</a:t>
            </a:r>
            <a:r>
              <a:rPr sz="3950" b="1" spc="45" dirty="0">
                <a:latin typeface="Calibri"/>
                <a:cs typeface="Calibri"/>
              </a:rPr>
              <a:t> </a:t>
            </a:r>
            <a:r>
              <a:rPr sz="3950" b="1" dirty="0">
                <a:latin typeface="Calibri"/>
                <a:cs typeface="Calibri"/>
              </a:rPr>
              <a:t>Frameworks</a:t>
            </a:r>
            <a:r>
              <a:rPr sz="3950" b="1" spc="35" dirty="0">
                <a:latin typeface="Calibri"/>
                <a:cs typeface="Calibri"/>
              </a:rPr>
              <a:t> </a:t>
            </a:r>
            <a:r>
              <a:rPr sz="3950" b="1" dirty="0">
                <a:latin typeface="Calibri"/>
                <a:cs typeface="Calibri"/>
              </a:rPr>
              <a:t>&amp;</a:t>
            </a:r>
            <a:r>
              <a:rPr sz="3950" b="1" spc="130" dirty="0">
                <a:latin typeface="Calibri"/>
                <a:cs typeface="Calibri"/>
              </a:rPr>
              <a:t> </a:t>
            </a:r>
            <a:r>
              <a:rPr sz="3950" b="1" spc="-10" dirty="0">
                <a:latin typeface="Calibri"/>
                <a:cs typeface="Calibri"/>
              </a:rPr>
              <a:t>AutoGen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55950" y="3000375"/>
            <a:ext cx="288671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mtClean="0">
                <a:latin typeface="Calibri"/>
                <a:cs typeface="Calibri"/>
              </a:rPr>
              <a:t>Speaker:</a:t>
            </a:r>
            <a:r>
              <a:rPr sz="2150" spc="100" smtClean="0">
                <a:latin typeface="Calibri"/>
                <a:cs typeface="Calibri"/>
              </a:rPr>
              <a:t> </a:t>
            </a:r>
            <a:r>
              <a:rPr lang="en-US" sz="2150" dirty="0" smtClean="0">
                <a:latin typeface="Calibri"/>
                <a:cs typeface="Calibri"/>
              </a:rPr>
              <a:t>D </a:t>
            </a:r>
            <a:r>
              <a:rPr lang="en-US" sz="2150" dirty="0" err="1" smtClean="0">
                <a:latin typeface="Calibri"/>
                <a:cs typeface="Calibri"/>
              </a:rPr>
              <a:t>Sai</a:t>
            </a:r>
            <a:r>
              <a:rPr lang="en-US" sz="2150" dirty="0">
                <a:latin typeface="Calibri"/>
                <a:cs typeface="Calibri"/>
              </a:rPr>
              <a:t> </a:t>
            </a:r>
            <a:r>
              <a:rPr lang="en-US" sz="2150" dirty="0" err="1" smtClean="0">
                <a:latin typeface="Calibri"/>
                <a:cs typeface="Calibri"/>
              </a:rPr>
              <a:t>Natarajan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4025" y="124523"/>
            <a:ext cx="2214245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mtClean="0">
                <a:latin typeface="Calibri"/>
                <a:cs typeface="Calibri"/>
              </a:rPr>
              <a:t>Instructor:</a:t>
            </a:r>
            <a:r>
              <a:rPr sz="1100" spc="40" smtClean="0">
                <a:latin typeface="Calibri"/>
                <a:cs typeface="Calibri"/>
              </a:rPr>
              <a:t> </a:t>
            </a:r>
            <a:r>
              <a:rPr lang="en-US" sz="1100" dirty="0" smtClean="0">
                <a:latin typeface="Calibri"/>
                <a:cs typeface="Calibri"/>
              </a:rPr>
              <a:t>D </a:t>
            </a:r>
            <a:r>
              <a:rPr lang="en-US" sz="1100" dirty="0" err="1" smtClean="0">
                <a:latin typeface="Calibri"/>
                <a:cs typeface="Calibri"/>
              </a:rPr>
              <a:t>Sai</a:t>
            </a:r>
            <a:r>
              <a:rPr lang="en-US" sz="1100" dirty="0" smtClean="0">
                <a:latin typeface="Calibri"/>
                <a:cs typeface="Calibri"/>
              </a:rPr>
              <a:t> </a:t>
            </a:r>
            <a:r>
              <a:rPr lang="en-US" sz="1100" dirty="0" err="1" smtClean="0">
                <a:latin typeface="Calibri"/>
                <a:cs typeface="Calibri"/>
              </a:rPr>
              <a:t>Natarajan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400236"/>
            <a:ext cx="9153525" cy="2743835"/>
            <a:chOff x="-4762" y="2400236"/>
            <a:chExt cx="9153525" cy="2743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400236"/>
              <a:ext cx="4900676" cy="212890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200" y="2562224"/>
              <a:ext cx="4448175" cy="1666875"/>
            </a:xfrm>
            <a:custGeom>
              <a:avLst/>
              <a:gdLst/>
              <a:ahLst/>
              <a:cxnLst/>
              <a:rect l="l" t="t" r="r" b="b"/>
              <a:pathLst>
                <a:path w="4448175" h="1666875">
                  <a:moveTo>
                    <a:pt x="4170299" y="0"/>
                  </a:moveTo>
                  <a:lnTo>
                    <a:pt x="277812" y="0"/>
                  </a:lnTo>
                  <a:lnTo>
                    <a:pt x="232750" y="3634"/>
                  </a:lnTo>
                  <a:lnTo>
                    <a:pt x="190003" y="14158"/>
                  </a:lnTo>
                  <a:lnTo>
                    <a:pt x="150142" y="31001"/>
                  </a:lnTo>
                  <a:lnTo>
                    <a:pt x="113741" y="53591"/>
                  </a:lnTo>
                  <a:lnTo>
                    <a:pt x="81370" y="81359"/>
                  </a:lnTo>
                  <a:lnTo>
                    <a:pt x="53602" y="113733"/>
                  </a:lnTo>
                  <a:lnTo>
                    <a:pt x="31009" y="150142"/>
                  </a:lnTo>
                  <a:lnTo>
                    <a:pt x="14163" y="190016"/>
                  </a:lnTo>
                  <a:lnTo>
                    <a:pt x="3636" y="232784"/>
                  </a:lnTo>
                  <a:lnTo>
                    <a:pt x="0" y="277875"/>
                  </a:lnTo>
                  <a:lnTo>
                    <a:pt x="0" y="1389062"/>
                  </a:lnTo>
                  <a:lnTo>
                    <a:pt x="3636" y="1434124"/>
                  </a:lnTo>
                  <a:lnTo>
                    <a:pt x="14163" y="1476871"/>
                  </a:lnTo>
                  <a:lnTo>
                    <a:pt x="31009" y="1516732"/>
                  </a:lnTo>
                  <a:lnTo>
                    <a:pt x="53602" y="1553133"/>
                  </a:lnTo>
                  <a:lnTo>
                    <a:pt x="81370" y="1585504"/>
                  </a:lnTo>
                  <a:lnTo>
                    <a:pt x="113741" y="1613272"/>
                  </a:lnTo>
                  <a:lnTo>
                    <a:pt x="150142" y="1635865"/>
                  </a:lnTo>
                  <a:lnTo>
                    <a:pt x="190003" y="1652711"/>
                  </a:lnTo>
                  <a:lnTo>
                    <a:pt x="232750" y="1663238"/>
                  </a:lnTo>
                  <a:lnTo>
                    <a:pt x="277812" y="1666875"/>
                  </a:lnTo>
                  <a:lnTo>
                    <a:pt x="4170299" y="1666875"/>
                  </a:lnTo>
                  <a:lnTo>
                    <a:pt x="4215390" y="1663238"/>
                  </a:lnTo>
                  <a:lnTo>
                    <a:pt x="4258158" y="1652711"/>
                  </a:lnTo>
                  <a:lnTo>
                    <a:pt x="4298032" y="1635865"/>
                  </a:lnTo>
                  <a:lnTo>
                    <a:pt x="4334441" y="1613272"/>
                  </a:lnTo>
                  <a:lnTo>
                    <a:pt x="4366815" y="1585504"/>
                  </a:lnTo>
                  <a:lnTo>
                    <a:pt x="4394583" y="1553133"/>
                  </a:lnTo>
                  <a:lnTo>
                    <a:pt x="4417173" y="1516732"/>
                  </a:lnTo>
                  <a:lnTo>
                    <a:pt x="4434016" y="1476871"/>
                  </a:lnTo>
                  <a:lnTo>
                    <a:pt x="4444540" y="1434124"/>
                  </a:lnTo>
                  <a:lnTo>
                    <a:pt x="4448175" y="1389062"/>
                  </a:lnTo>
                  <a:lnTo>
                    <a:pt x="4448175" y="277875"/>
                  </a:lnTo>
                  <a:lnTo>
                    <a:pt x="4444540" y="232784"/>
                  </a:lnTo>
                  <a:lnTo>
                    <a:pt x="4434016" y="190016"/>
                  </a:lnTo>
                  <a:lnTo>
                    <a:pt x="4417173" y="150142"/>
                  </a:lnTo>
                  <a:lnTo>
                    <a:pt x="4394583" y="113733"/>
                  </a:lnTo>
                  <a:lnTo>
                    <a:pt x="4366815" y="81359"/>
                  </a:lnTo>
                  <a:lnTo>
                    <a:pt x="4334441" y="53591"/>
                  </a:lnTo>
                  <a:lnTo>
                    <a:pt x="4298032" y="31001"/>
                  </a:lnTo>
                  <a:lnTo>
                    <a:pt x="4258158" y="14158"/>
                  </a:lnTo>
                  <a:lnTo>
                    <a:pt x="4215390" y="3634"/>
                  </a:lnTo>
                  <a:lnTo>
                    <a:pt x="4170299" y="0"/>
                  </a:lnTo>
                  <a:close/>
                </a:path>
              </a:pathLst>
            </a:custGeom>
            <a:solidFill>
              <a:srgbClr val="4750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0954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Agenda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6575" y="987424"/>
            <a:ext cx="362585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130"/>
              </a:spcBef>
              <a:buChar char="▪"/>
              <a:tabLst>
                <a:tab pos="285750" algn="l"/>
              </a:tabLst>
            </a:pPr>
            <a:r>
              <a:rPr sz="2750" dirty="0">
                <a:solidFill>
                  <a:srgbClr val="333399"/>
                </a:solidFill>
                <a:latin typeface="Calibri"/>
                <a:cs typeface="Calibri"/>
              </a:rPr>
              <a:t>Agentic</a:t>
            </a:r>
            <a:r>
              <a:rPr sz="2750" spc="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>
                <a:solidFill>
                  <a:srgbClr val="333399"/>
                </a:solidFill>
                <a:latin typeface="Calibri"/>
                <a:cs typeface="Calibri"/>
              </a:rPr>
              <a:t>AI</a:t>
            </a:r>
            <a:r>
              <a:rPr sz="2750" spc="5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 smtClean="0">
                <a:solidFill>
                  <a:srgbClr val="333399"/>
                </a:solidFill>
                <a:latin typeface="Calibri"/>
                <a:cs typeface="Calibri"/>
              </a:rPr>
              <a:t>Frameworks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9967" y="3013773"/>
            <a:ext cx="2585085" cy="7639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09855" marR="5080" indent="-97790">
              <a:lnSpc>
                <a:spcPct val="101699"/>
              </a:lnSpc>
              <a:spcBef>
                <a:spcPts val="50"/>
              </a:spcBef>
            </a:pP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What</a:t>
            </a:r>
            <a:r>
              <a:rPr sz="2400" spc="-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are</a:t>
            </a:r>
            <a:r>
              <a:rPr sz="2400" spc="-3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future</a:t>
            </a:r>
            <a:r>
              <a:rPr sz="2400" spc="-3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Semibold"/>
                <a:cs typeface="Segoe UI Semibold"/>
              </a:rPr>
              <a:t>AI </a:t>
            </a: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applications</a:t>
            </a:r>
            <a:r>
              <a:rPr sz="2400" spc="-11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Semibold"/>
                <a:cs typeface="Segoe UI Semibold"/>
              </a:rPr>
              <a:t>like?</a:t>
            </a:r>
            <a:endParaRPr sz="2400">
              <a:latin typeface="Segoe UI Semibold"/>
              <a:cs typeface="Segoe UI Semibold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57700" y="2400236"/>
            <a:ext cx="4686300" cy="2129155"/>
            <a:chOff x="4457700" y="2400236"/>
            <a:chExt cx="4686300" cy="21291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700" y="2400236"/>
              <a:ext cx="4686300" cy="212890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619625" y="2562224"/>
              <a:ext cx="4448175" cy="1666875"/>
            </a:xfrm>
            <a:custGeom>
              <a:avLst/>
              <a:gdLst/>
              <a:ahLst/>
              <a:cxnLst/>
              <a:rect l="l" t="t" r="r" b="b"/>
              <a:pathLst>
                <a:path w="4448175" h="1666875">
                  <a:moveTo>
                    <a:pt x="4170299" y="0"/>
                  </a:moveTo>
                  <a:lnTo>
                    <a:pt x="277875" y="0"/>
                  </a:lnTo>
                  <a:lnTo>
                    <a:pt x="232784" y="3634"/>
                  </a:lnTo>
                  <a:lnTo>
                    <a:pt x="190016" y="14158"/>
                  </a:lnTo>
                  <a:lnTo>
                    <a:pt x="150142" y="31001"/>
                  </a:lnTo>
                  <a:lnTo>
                    <a:pt x="113733" y="53591"/>
                  </a:lnTo>
                  <a:lnTo>
                    <a:pt x="81359" y="81359"/>
                  </a:lnTo>
                  <a:lnTo>
                    <a:pt x="53591" y="113733"/>
                  </a:lnTo>
                  <a:lnTo>
                    <a:pt x="31001" y="150142"/>
                  </a:lnTo>
                  <a:lnTo>
                    <a:pt x="14158" y="190016"/>
                  </a:lnTo>
                  <a:lnTo>
                    <a:pt x="3634" y="232784"/>
                  </a:lnTo>
                  <a:lnTo>
                    <a:pt x="0" y="277875"/>
                  </a:lnTo>
                  <a:lnTo>
                    <a:pt x="0" y="1389062"/>
                  </a:lnTo>
                  <a:lnTo>
                    <a:pt x="3634" y="1434124"/>
                  </a:lnTo>
                  <a:lnTo>
                    <a:pt x="14158" y="1476871"/>
                  </a:lnTo>
                  <a:lnTo>
                    <a:pt x="31001" y="1516732"/>
                  </a:lnTo>
                  <a:lnTo>
                    <a:pt x="53591" y="1553133"/>
                  </a:lnTo>
                  <a:lnTo>
                    <a:pt x="81359" y="1585504"/>
                  </a:lnTo>
                  <a:lnTo>
                    <a:pt x="113733" y="1613272"/>
                  </a:lnTo>
                  <a:lnTo>
                    <a:pt x="150142" y="1635865"/>
                  </a:lnTo>
                  <a:lnTo>
                    <a:pt x="190016" y="1652711"/>
                  </a:lnTo>
                  <a:lnTo>
                    <a:pt x="232784" y="1663238"/>
                  </a:lnTo>
                  <a:lnTo>
                    <a:pt x="277875" y="1666875"/>
                  </a:lnTo>
                  <a:lnTo>
                    <a:pt x="4170299" y="1666875"/>
                  </a:lnTo>
                  <a:lnTo>
                    <a:pt x="4215390" y="1663238"/>
                  </a:lnTo>
                  <a:lnTo>
                    <a:pt x="4258158" y="1652711"/>
                  </a:lnTo>
                  <a:lnTo>
                    <a:pt x="4298032" y="1635865"/>
                  </a:lnTo>
                  <a:lnTo>
                    <a:pt x="4334441" y="1613272"/>
                  </a:lnTo>
                  <a:lnTo>
                    <a:pt x="4366815" y="1585504"/>
                  </a:lnTo>
                  <a:lnTo>
                    <a:pt x="4394583" y="1553133"/>
                  </a:lnTo>
                  <a:lnTo>
                    <a:pt x="4417173" y="1516732"/>
                  </a:lnTo>
                  <a:lnTo>
                    <a:pt x="4434016" y="1476871"/>
                  </a:lnTo>
                  <a:lnTo>
                    <a:pt x="4444540" y="1434124"/>
                  </a:lnTo>
                  <a:lnTo>
                    <a:pt x="4448175" y="1389062"/>
                  </a:lnTo>
                  <a:lnTo>
                    <a:pt x="4448175" y="277875"/>
                  </a:lnTo>
                  <a:lnTo>
                    <a:pt x="4444540" y="232784"/>
                  </a:lnTo>
                  <a:lnTo>
                    <a:pt x="4434016" y="190016"/>
                  </a:lnTo>
                  <a:lnTo>
                    <a:pt x="4417173" y="150142"/>
                  </a:lnTo>
                  <a:lnTo>
                    <a:pt x="4394583" y="113733"/>
                  </a:lnTo>
                  <a:lnTo>
                    <a:pt x="4366815" y="81359"/>
                  </a:lnTo>
                  <a:lnTo>
                    <a:pt x="4334441" y="53591"/>
                  </a:lnTo>
                  <a:lnTo>
                    <a:pt x="4298032" y="31001"/>
                  </a:lnTo>
                  <a:lnTo>
                    <a:pt x="4258158" y="14158"/>
                  </a:lnTo>
                  <a:lnTo>
                    <a:pt x="4215390" y="3634"/>
                  </a:lnTo>
                  <a:lnTo>
                    <a:pt x="4170299" y="0"/>
                  </a:lnTo>
                  <a:close/>
                </a:path>
              </a:pathLst>
            </a:custGeom>
            <a:solidFill>
              <a:srgbClr val="4750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41315" y="3013773"/>
            <a:ext cx="3814445" cy="7639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65735" marR="5080" indent="-153670">
              <a:lnSpc>
                <a:spcPct val="101699"/>
              </a:lnSpc>
              <a:spcBef>
                <a:spcPts val="50"/>
              </a:spcBef>
            </a:pP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How</a:t>
            </a:r>
            <a:r>
              <a:rPr sz="2400" spc="-3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do</a:t>
            </a:r>
            <a:r>
              <a:rPr sz="2400" spc="-1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we</a:t>
            </a:r>
            <a:r>
              <a:rPr sz="2400" spc="-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empower</a:t>
            </a:r>
            <a:r>
              <a:rPr sz="2400" spc="-6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every </a:t>
            </a: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developer</a:t>
            </a:r>
            <a:r>
              <a:rPr sz="2400" spc="-4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to</a:t>
            </a:r>
            <a:r>
              <a:rPr sz="24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build</a:t>
            </a:r>
            <a:r>
              <a:rPr sz="2400" spc="-6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them?</a:t>
            </a:r>
            <a:endParaRPr sz="240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18659" y="4831635"/>
            <a:ext cx="117475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are</a:t>
            </a:r>
            <a:r>
              <a:rPr spc="-15" dirty="0"/>
              <a:t> </a:t>
            </a:r>
            <a:r>
              <a:rPr dirty="0"/>
              <a:t>future</a:t>
            </a:r>
            <a:r>
              <a:rPr spc="-85" dirty="0"/>
              <a:t> </a:t>
            </a:r>
            <a:r>
              <a:rPr dirty="0"/>
              <a:t>AI</a:t>
            </a:r>
            <a:r>
              <a:rPr spc="-30" dirty="0"/>
              <a:t> </a:t>
            </a:r>
            <a:r>
              <a:rPr dirty="0"/>
              <a:t>applications</a:t>
            </a:r>
            <a:r>
              <a:rPr spc="-10" dirty="0"/>
              <a:t> like?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572" y="964057"/>
            <a:ext cx="3569335" cy="12547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06400" indent="-393700">
              <a:lnSpc>
                <a:spcPct val="100000"/>
              </a:lnSpc>
              <a:spcBef>
                <a:spcPts val="535"/>
              </a:spcBef>
              <a:buChar char="▪"/>
              <a:tabLst>
                <a:tab pos="406400" algn="l"/>
              </a:tabLst>
            </a:pP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Generative</a:t>
            </a:r>
            <a:endParaRPr sz="2600">
              <a:latin typeface="Calibri"/>
              <a:cs typeface="Calibri"/>
            </a:endParaRPr>
          </a:p>
          <a:p>
            <a:pPr marL="864235" marR="5080" lvl="1" indent="-381635">
              <a:lnSpc>
                <a:spcPts val="2850"/>
              </a:lnSpc>
              <a:spcBef>
                <a:spcPts val="505"/>
              </a:spcBef>
              <a:buClr>
                <a:srgbClr val="333399"/>
              </a:buClr>
              <a:buChar char="▪"/>
              <a:tabLst>
                <a:tab pos="864235" algn="l"/>
              </a:tabLst>
            </a:pPr>
            <a:r>
              <a:rPr sz="2400" dirty="0">
                <a:latin typeface="Calibri"/>
                <a:cs typeface="Calibri"/>
              </a:rPr>
              <a:t>Generate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content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like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image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6878" y="1015999"/>
            <a:ext cx="3552825" cy="12033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0"/>
              </a:spcBef>
              <a:buChar char="▪"/>
              <a:tabLst>
                <a:tab pos="298450" algn="l"/>
              </a:tabLst>
            </a:pP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Agentic</a:t>
            </a:r>
            <a:endParaRPr sz="2600">
              <a:latin typeface="Calibri"/>
              <a:cs typeface="Calibri"/>
            </a:endParaRPr>
          </a:p>
          <a:p>
            <a:pPr marL="756285" marR="5080" lvl="1" indent="-286385">
              <a:lnSpc>
                <a:spcPts val="2850"/>
              </a:lnSpc>
              <a:spcBef>
                <a:spcPts val="505"/>
              </a:spcBef>
              <a:buClr>
                <a:srgbClr val="333399"/>
              </a:buClr>
              <a:buSzPct val="108333"/>
              <a:buChar char="▪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Execute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tasks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behalf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human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7175" y="1390650"/>
            <a:ext cx="828675" cy="5619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628" y="2480704"/>
            <a:ext cx="4127673" cy="13084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66138" y="3873817"/>
            <a:ext cx="617791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 MT"/>
                <a:cs typeface="Arial MT"/>
              </a:rPr>
              <a:t>Zaharia</a:t>
            </a:r>
            <a:r>
              <a:rPr sz="1550" spc="1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et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al.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2024.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Shift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from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Models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Compound</a:t>
            </a:r>
            <a:r>
              <a:rPr sz="1550" spc="1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AI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Systems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8659" y="4831635"/>
            <a:ext cx="117475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1425" y="971575"/>
            <a:ext cx="4933950" cy="33145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97305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Examples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Agentic</a:t>
            </a:r>
            <a:r>
              <a:rPr spc="-40" dirty="0"/>
              <a:t> </a:t>
            </a:r>
            <a:r>
              <a:rPr spc="-25" dirty="0"/>
              <a:t>AI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18659" y="4831635"/>
            <a:ext cx="117475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9572" y="977899"/>
            <a:ext cx="3319779" cy="29876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6400" indent="-393700">
              <a:lnSpc>
                <a:spcPct val="100000"/>
              </a:lnSpc>
              <a:spcBef>
                <a:spcPts val="130"/>
              </a:spcBef>
              <a:buSzPct val="94545"/>
              <a:buChar char="▪"/>
              <a:tabLst>
                <a:tab pos="406400" algn="l"/>
              </a:tabLst>
            </a:pPr>
            <a:r>
              <a:rPr sz="2750" dirty="0">
                <a:solidFill>
                  <a:srgbClr val="333399"/>
                </a:solidFill>
                <a:latin typeface="Calibri"/>
                <a:cs typeface="Calibri"/>
              </a:rPr>
              <a:t>Personal</a:t>
            </a:r>
            <a:r>
              <a:rPr sz="2750" spc="1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333399"/>
                </a:solidFill>
                <a:latin typeface="Calibri"/>
                <a:cs typeface="Calibri"/>
              </a:rPr>
              <a:t>assistants</a:t>
            </a:r>
            <a:endParaRPr sz="275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80"/>
              </a:spcBef>
              <a:buSzPct val="94545"/>
              <a:buChar char="▪"/>
              <a:tabLst>
                <a:tab pos="406400" algn="l"/>
              </a:tabLst>
            </a:pPr>
            <a:r>
              <a:rPr sz="2750" dirty="0">
                <a:solidFill>
                  <a:srgbClr val="333399"/>
                </a:solidFill>
                <a:latin typeface="Calibri"/>
                <a:cs typeface="Calibri"/>
              </a:rPr>
              <a:t>Autonomous</a:t>
            </a:r>
            <a:r>
              <a:rPr sz="2750" spc="1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333399"/>
                </a:solidFill>
                <a:latin typeface="Calibri"/>
                <a:cs typeface="Calibri"/>
              </a:rPr>
              <a:t>robots</a:t>
            </a:r>
            <a:endParaRPr sz="275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5"/>
              </a:spcBef>
              <a:buSzPct val="94545"/>
              <a:buChar char="▪"/>
              <a:tabLst>
                <a:tab pos="406400" algn="l"/>
              </a:tabLst>
            </a:pPr>
            <a:r>
              <a:rPr sz="2750" dirty="0">
                <a:solidFill>
                  <a:srgbClr val="333399"/>
                </a:solidFill>
                <a:latin typeface="Calibri"/>
                <a:cs typeface="Calibri"/>
              </a:rPr>
              <a:t>Gaming</a:t>
            </a:r>
            <a:r>
              <a:rPr sz="2750" spc="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333399"/>
                </a:solidFill>
                <a:latin typeface="Calibri"/>
                <a:cs typeface="Calibri"/>
              </a:rPr>
              <a:t>agents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99"/>
              </a:buClr>
              <a:buFont typeface="Calibri"/>
              <a:buChar char="▪"/>
            </a:pPr>
            <a:endParaRPr sz="275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buSzPct val="94545"/>
              <a:buChar char="▪"/>
              <a:tabLst>
                <a:tab pos="406400" algn="l"/>
              </a:tabLst>
            </a:pPr>
            <a:r>
              <a:rPr sz="2750" dirty="0">
                <a:solidFill>
                  <a:srgbClr val="333399"/>
                </a:solidFill>
                <a:latin typeface="Calibri"/>
                <a:cs typeface="Calibri"/>
              </a:rPr>
              <a:t>Science</a:t>
            </a:r>
            <a:r>
              <a:rPr sz="2750" spc="1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333399"/>
                </a:solidFill>
                <a:latin typeface="Calibri"/>
                <a:cs typeface="Calibri"/>
              </a:rPr>
              <a:t>agents</a:t>
            </a:r>
            <a:endParaRPr sz="275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5"/>
              </a:spcBef>
              <a:buSzPct val="94545"/>
              <a:buChar char="▪"/>
              <a:tabLst>
                <a:tab pos="406400" algn="l"/>
              </a:tabLst>
            </a:pPr>
            <a:r>
              <a:rPr sz="2750" dirty="0">
                <a:solidFill>
                  <a:srgbClr val="333399"/>
                </a:solidFill>
                <a:latin typeface="Calibri"/>
                <a:cs typeface="Calibri"/>
              </a:rPr>
              <a:t>Web</a:t>
            </a:r>
            <a:r>
              <a:rPr sz="2750" spc="9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333399"/>
                </a:solidFill>
                <a:latin typeface="Calibri"/>
                <a:cs typeface="Calibri"/>
              </a:rPr>
              <a:t>agents</a:t>
            </a:r>
            <a:endParaRPr sz="275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10"/>
              </a:spcBef>
              <a:buSzPct val="94545"/>
              <a:buChar char="▪"/>
              <a:tabLst>
                <a:tab pos="406400" algn="l"/>
              </a:tabLst>
            </a:pPr>
            <a:r>
              <a:rPr sz="2750" dirty="0">
                <a:solidFill>
                  <a:srgbClr val="333399"/>
                </a:solidFill>
                <a:latin typeface="Calibri"/>
                <a:cs typeface="Calibri"/>
              </a:rPr>
              <a:t>Software</a:t>
            </a:r>
            <a:r>
              <a:rPr sz="2750" spc="1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333399"/>
                </a:solidFill>
                <a:latin typeface="Calibri"/>
                <a:cs typeface="Calibri"/>
              </a:rPr>
              <a:t>agents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29335">
              <a:lnSpc>
                <a:spcPct val="100000"/>
              </a:lnSpc>
              <a:spcBef>
                <a:spcPts val="105"/>
              </a:spcBef>
            </a:pPr>
            <a:r>
              <a:rPr dirty="0"/>
              <a:t>Key</a:t>
            </a:r>
            <a:r>
              <a:rPr spc="-95" dirty="0"/>
              <a:t> </a:t>
            </a:r>
            <a:r>
              <a:rPr dirty="0"/>
              <a:t>Benefits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Agentic</a:t>
            </a:r>
            <a:r>
              <a:rPr spc="-70" dirty="0"/>
              <a:t> </a:t>
            </a:r>
            <a:r>
              <a:rPr spc="-25" dirty="0"/>
              <a:t>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875" y="989144"/>
            <a:ext cx="6513830" cy="272478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15"/>
              </a:spcBef>
              <a:buSzPct val="65454"/>
              <a:buChar char="▪"/>
              <a:tabLst>
                <a:tab pos="355600" algn="l"/>
              </a:tabLst>
            </a:pPr>
            <a:r>
              <a:rPr sz="2750" dirty="0">
                <a:solidFill>
                  <a:srgbClr val="333399"/>
                </a:solidFill>
                <a:latin typeface="Calibri"/>
                <a:cs typeface="Calibri"/>
              </a:rPr>
              <a:t>Useful</a:t>
            </a:r>
            <a:r>
              <a:rPr sz="2750" spc="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333399"/>
                </a:solidFill>
                <a:latin typeface="Calibri"/>
                <a:cs typeface="Calibri"/>
              </a:rPr>
              <a:t>Interface</a:t>
            </a:r>
            <a:endParaRPr sz="2750">
              <a:latin typeface="Calibri"/>
              <a:cs typeface="Calibri"/>
            </a:endParaRPr>
          </a:p>
          <a:p>
            <a:pPr marL="813435" lvl="1" indent="-342900">
              <a:lnSpc>
                <a:spcPct val="100000"/>
              </a:lnSpc>
              <a:spcBef>
                <a:spcPts val="305"/>
              </a:spcBef>
              <a:buClr>
                <a:srgbClr val="333399"/>
              </a:buClr>
              <a:buSzPct val="69230"/>
              <a:buChar char="▪"/>
              <a:tabLst>
                <a:tab pos="813435" algn="l"/>
              </a:tabLst>
            </a:pPr>
            <a:r>
              <a:rPr sz="2600" dirty="0">
                <a:latin typeface="Calibri"/>
                <a:cs typeface="Calibri"/>
              </a:rPr>
              <a:t>Natural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interaction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human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agency</a:t>
            </a:r>
            <a:endParaRPr sz="2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SzPct val="65454"/>
              <a:buChar char="▪"/>
              <a:tabLst>
                <a:tab pos="355600" algn="l"/>
              </a:tabLst>
            </a:pPr>
            <a:r>
              <a:rPr sz="2750" dirty="0">
                <a:solidFill>
                  <a:srgbClr val="333399"/>
                </a:solidFill>
                <a:latin typeface="Calibri"/>
                <a:cs typeface="Calibri"/>
              </a:rPr>
              <a:t>Strong</a:t>
            </a:r>
            <a:r>
              <a:rPr sz="2750" spc="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333399"/>
                </a:solidFill>
                <a:latin typeface="Calibri"/>
                <a:cs typeface="Calibri"/>
              </a:rPr>
              <a:t>Capability</a:t>
            </a:r>
            <a:endParaRPr sz="2750">
              <a:latin typeface="Calibri"/>
              <a:cs typeface="Calibri"/>
            </a:endParaRPr>
          </a:p>
          <a:p>
            <a:pPr marL="813435" lvl="1" indent="-342900">
              <a:lnSpc>
                <a:spcPct val="100000"/>
              </a:lnSpc>
              <a:spcBef>
                <a:spcPts val="385"/>
              </a:spcBef>
              <a:buClr>
                <a:srgbClr val="333399"/>
              </a:buClr>
              <a:buSzPct val="69230"/>
              <a:buChar char="▪"/>
              <a:tabLst>
                <a:tab pos="813435" algn="l"/>
              </a:tabLst>
            </a:pPr>
            <a:r>
              <a:rPr sz="2600" dirty="0">
                <a:latin typeface="Calibri"/>
                <a:cs typeface="Calibri"/>
              </a:rPr>
              <a:t>Operate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minimal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human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intervention</a:t>
            </a:r>
            <a:endParaRPr sz="2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SzPct val="65454"/>
              <a:buChar char="▪"/>
              <a:tabLst>
                <a:tab pos="355600" algn="l"/>
              </a:tabLst>
            </a:pPr>
            <a:r>
              <a:rPr sz="2750" dirty="0">
                <a:solidFill>
                  <a:srgbClr val="333399"/>
                </a:solidFill>
                <a:latin typeface="Calibri"/>
                <a:cs typeface="Calibri"/>
              </a:rPr>
              <a:t>Useful</a:t>
            </a:r>
            <a:r>
              <a:rPr sz="2750" spc="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333399"/>
                </a:solidFill>
                <a:latin typeface="Calibri"/>
                <a:cs typeface="Calibri"/>
              </a:rPr>
              <a:t>Architecture</a:t>
            </a:r>
            <a:endParaRPr sz="2750">
              <a:latin typeface="Calibri"/>
              <a:cs typeface="Calibri"/>
            </a:endParaRPr>
          </a:p>
          <a:p>
            <a:pPr marL="813435" lvl="1" indent="-342900">
              <a:lnSpc>
                <a:spcPct val="100000"/>
              </a:lnSpc>
              <a:spcBef>
                <a:spcPts val="309"/>
              </a:spcBef>
              <a:buClr>
                <a:srgbClr val="333399"/>
              </a:buClr>
              <a:buSzPct val="69230"/>
              <a:buChar char="▪"/>
              <a:tabLst>
                <a:tab pos="813435" algn="l"/>
              </a:tabLst>
            </a:pPr>
            <a:r>
              <a:rPr sz="2600" dirty="0">
                <a:latin typeface="Calibri"/>
                <a:cs typeface="Calibri"/>
              </a:rPr>
              <a:t>Intuitive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programming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paradigm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18659" y="4786312"/>
            <a:ext cx="11747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688"/>
            <a:ext cx="9149080" cy="57150"/>
            <a:chOff x="0" y="47688"/>
            <a:chExt cx="9149080" cy="57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3" y="52451"/>
              <a:ext cx="9139236" cy="476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763" y="52451"/>
              <a:ext cx="9139555" cy="47625"/>
            </a:xfrm>
            <a:custGeom>
              <a:avLst/>
              <a:gdLst/>
              <a:ahLst/>
              <a:cxnLst/>
              <a:rect l="l" t="t" r="r" b="b"/>
              <a:pathLst>
                <a:path w="9139555" h="47625">
                  <a:moveTo>
                    <a:pt x="9139236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39236" y="476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163317" y="2744470"/>
            <a:ext cx="4260850" cy="1743075"/>
          </a:xfrm>
          <a:custGeom>
            <a:avLst/>
            <a:gdLst/>
            <a:ahLst/>
            <a:cxnLst/>
            <a:rect l="l" t="t" r="r" b="b"/>
            <a:pathLst>
              <a:path w="4260850" h="1743075">
                <a:moveTo>
                  <a:pt x="1675130" y="36830"/>
                </a:moveTo>
                <a:lnTo>
                  <a:pt x="1598930" y="38100"/>
                </a:lnTo>
                <a:lnTo>
                  <a:pt x="1599167" y="55880"/>
                </a:lnTo>
                <a:lnTo>
                  <a:pt x="1599183" y="57150"/>
                </a:lnTo>
                <a:lnTo>
                  <a:pt x="1675383" y="55880"/>
                </a:lnTo>
                <a:lnTo>
                  <a:pt x="1675146" y="38100"/>
                </a:lnTo>
                <a:lnTo>
                  <a:pt x="1675130" y="36830"/>
                </a:lnTo>
                <a:close/>
              </a:path>
              <a:path w="4260850" h="1743075">
                <a:moveTo>
                  <a:pt x="1541526" y="40640"/>
                </a:moveTo>
                <a:lnTo>
                  <a:pt x="1518920" y="41656"/>
                </a:lnTo>
                <a:lnTo>
                  <a:pt x="1465198" y="45719"/>
                </a:lnTo>
                <a:lnTo>
                  <a:pt x="1466722" y="64769"/>
                </a:lnTo>
                <a:lnTo>
                  <a:pt x="1519808" y="60706"/>
                </a:lnTo>
                <a:lnTo>
                  <a:pt x="1542415" y="59690"/>
                </a:lnTo>
                <a:lnTo>
                  <a:pt x="1541573" y="41656"/>
                </a:lnTo>
                <a:lnTo>
                  <a:pt x="1541526" y="40640"/>
                </a:lnTo>
                <a:close/>
              </a:path>
              <a:path w="4260850" h="1743075">
                <a:moveTo>
                  <a:pt x="1408048" y="51054"/>
                </a:moveTo>
                <a:lnTo>
                  <a:pt x="1363598" y="55880"/>
                </a:lnTo>
                <a:lnTo>
                  <a:pt x="1332103" y="60071"/>
                </a:lnTo>
                <a:lnTo>
                  <a:pt x="1334643" y="78993"/>
                </a:lnTo>
                <a:lnTo>
                  <a:pt x="1365504" y="74803"/>
                </a:lnTo>
                <a:lnTo>
                  <a:pt x="1410081" y="70104"/>
                </a:lnTo>
                <a:lnTo>
                  <a:pt x="1408048" y="51054"/>
                </a:lnTo>
                <a:close/>
              </a:path>
              <a:path w="4260850" h="1743075">
                <a:moveTo>
                  <a:pt x="1275207" y="68072"/>
                </a:moveTo>
                <a:lnTo>
                  <a:pt x="1210691" y="78612"/>
                </a:lnTo>
                <a:lnTo>
                  <a:pt x="1199895" y="80772"/>
                </a:lnTo>
                <a:lnTo>
                  <a:pt x="1203452" y="99441"/>
                </a:lnTo>
                <a:lnTo>
                  <a:pt x="1213739" y="97536"/>
                </a:lnTo>
                <a:lnTo>
                  <a:pt x="1278382" y="86868"/>
                </a:lnTo>
                <a:lnTo>
                  <a:pt x="1275207" y="68072"/>
                </a:lnTo>
                <a:close/>
              </a:path>
              <a:path w="4260850" h="1743075">
                <a:moveTo>
                  <a:pt x="1143761" y="91567"/>
                </a:moveTo>
                <a:lnTo>
                  <a:pt x="1135633" y="93091"/>
                </a:lnTo>
                <a:lnTo>
                  <a:pt x="1069086" y="107950"/>
                </a:lnTo>
                <a:lnTo>
                  <a:pt x="1073150" y="126492"/>
                </a:lnTo>
                <a:lnTo>
                  <a:pt x="1139190" y="111760"/>
                </a:lnTo>
                <a:lnTo>
                  <a:pt x="1147318" y="110236"/>
                </a:lnTo>
                <a:lnTo>
                  <a:pt x="1143761" y="91567"/>
                </a:lnTo>
                <a:close/>
              </a:path>
              <a:path w="4260850" h="1743075">
                <a:moveTo>
                  <a:pt x="1013332" y="121666"/>
                </a:moveTo>
                <a:lnTo>
                  <a:pt x="988821" y="127762"/>
                </a:lnTo>
                <a:lnTo>
                  <a:pt x="939545" y="141605"/>
                </a:lnTo>
                <a:lnTo>
                  <a:pt x="944626" y="160019"/>
                </a:lnTo>
                <a:lnTo>
                  <a:pt x="993394" y="146304"/>
                </a:lnTo>
                <a:lnTo>
                  <a:pt x="1017905" y="140081"/>
                </a:lnTo>
                <a:lnTo>
                  <a:pt x="1013332" y="121666"/>
                </a:lnTo>
                <a:close/>
              </a:path>
              <a:path w="4260850" h="1743075">
                <a:moveTo>
                  <a:pt x="884555" y="158115"/>
                </a:moveTo>
                <a:lnTo>
                  <a:pt x="847344" y="169672"/>
                </a:lnTo>
                <a:lnTo>
                  <a:pt x="811783" y="181863"/>
                </a:lnTo>
                <a:lnTo>
                  <a:pt x="818007" y="199898"/>
                </a:lnTo>
                <a:lnTo>
                  <a:pt x="853058" y="187832"/>
                </a:lnTo>
                <a:lnTo>
                  <a:pt x="890143" y="176275"/>
                </a:lnTo>
                <a:lnTo>
                  <a:pt x="884555" y="158115"/>
                </a:lnTo>
                <a:close/>
              </a:path>
              <a:path w="4260850" h="1743075">
                <a:moveTo>
                  <a:pt x="757682" y="201041"/>
                </a:moveTo>
                <a:lnTo>
                  <a:pt x="712724" y="217931"/>
                </a:lnTo>
                <a:lnTo>
                  <a:pt x="686434" y="228727"/>
                </a:lnTo>
                <a:lnTo>
                  <a:pt x="693674" y="246380"/>
                </a:lnTo>
                <a:lnTo>
                  <a:pt x="719455" y="235712"/>
                </a:lnTo>
                <a:lnTo>
                  <a:pt x="764413" y="218948"/>
                </a:lnTo>
                <a:lnTo>
                  <a:pt x="757682" y="201041"/>
                </a:lnTo>
                <a:close/>
              </a:path>
              <a:path w="4260850" h="1743075">
                <a:moveTo>
                  <a:pt x="633476" y="251079"/>
                </a:moveTo>
                <a:lnTo>
                  <a:pt x="585851" y="272288"/>
                </a:lnTo>
                <a:lnTo>
                  <a:pt x="564007" y="282956"/>
                </a:lnTo>
                <a:lnTo>
                  <a:pt x="572262" y="300100"/>
                </a:lnTo>
                <a:lnTo>
                  <a:pt x="593725" y="289687"/>
                </a:lnTo>
                <a:lnTo>
                  <a:pt x="641223" y="268478"/>
                </a:lnTo>
                <a:lnTo>
                  <a:pt x="633476" y="251079"/>
                </a:lnTo>
                <a:close/>
              </a:path>
              <a:path w="4260850" h="1743075">
                <a:moveTo>
                  <a:pt x="512444" y="308482"/>
                </a:moveTo>
                <a:lnTo>
                  <a:pt x="468249" y="331724"/>
                </a:lnTo>
                <a:lnTo>
                  <a:pt x="445262" y="345059"/>
                </a:lnTo>
                <a:lnTo>
                  <a:pt x="454787" y="361569"/>
                </a:lnTo>
                <a:lnTo>
                  <a:pt x="477138" y="348615"/>
                </a:lnTo>
                <a:lnTo>
                  <a:pt x="521334" y="325374"/>
                </a:lnTo>
                <a:lnTo>
                  <a:pt x="512444" y="308482"/>
                </a:lnTo>
                <a:close/>
              </a:path>
              <a:path w="4260850" h="1743075">
                <a:moveTo>
                  <a:pt x="395731" y="374269"/>
                </a:moveTo>
                <a:lnTo>
                  <a:pt x="361061" y="395986"/>
                </a:lnTo>
                <a:lnTo>
                  <a:pt x="331596" y="416052"/>
                </a:lnTo>
                <a:lnTo>
                  <a:pt x="342392" y="431800"/>
                </a:lnTo>
                <a:lnTo>
                  <a:pt x="371094" y="412242"/>
                </a:lnTo>
                <a:lnTo>
                  <a:pt x="405892" y="390525"/>
                </a:lnTo>
                <a:lnTo>
                  <a:pt x="395731" y="374269"/>
                </a:lnTo>
                <a:close/>
              </a:path>
              <a:path w="4260850" h="1743075">
                <a:moveTo>
                  <a:pt x="284861" y="449706"/>
                </a:moveTo>
                <a:lnTo>
                  <a:pt x="265302" y="464438"/>
                </a:lnTo>
                <a:lnTo>
                  <a:pt x="225044" y="497586"/>
                </a:lnTo>
                <a:lnTo>
                  <a:pt x="237108" y="512318"/>
                </a:lnTo>
                <a:lnTo>
                  <a:pt x="276732" y="479679"/>
                </a:lnTo>
                <a:lnTo>
                  <a:pt x="296290" y="464947"/>
                </a:lnTo>
                <a:lnTo>
                  <a:pt x="284861" y="449706"/>
                </a:lnTo>
                <a:close/>
              </a:path>
              <a:path w="4260850" h="1743075">
                <a:moveTo>
                  <a:pt x="182244" y="536194"/>
                </a:moveTo>
                <a:lnTo>
                  <a:pt x="145923" y="573532"/>
                </a:lnTo>
                <a:lnTo>
                  <a:pt x="129412" y="592582"/>
                </a:lnTo>
                <a:lnTo>
                  <a:pt x="143763" y="605028"/>
                </a:lnTo>
                <a:lnTo>
                  <a:pt x="159512" y="586740"/>
                </a:lnTo>
                <a:lnTo>
                  <a:pt x="195071" y="550418"/>
                </a:lnTo>
                <a:lnTo>
                  <a:pt x="182244" y="536194"/>
                </a:lnTo>
                <a:close/>
              </a:path>
              <a:path w="4260850" h="1743075">
                <a:moveTo>
                  <a:pt x="93344" y="637667"/>
                </a:moveTo>
                <a:lnTo>
                  <a:pt x="84327" y="649605"/>
                </a:lnTo>
                <a:lnTo>
                  <a:pt x="59308" y="688594"/>
                </a:lnTo>
                <a:lnTo>
                  <a:pt x="51688" y="703199"/>
                </a:lnTo>
                <a:lnTo>
                  <a:pt x="68452" y="712088"/>
                </a:lnTo>
                <a:lnTo>
                  <a:pt x="75311" y="698881"/>
                </a:lnTo>
                <a:lnTo>
                  <a:pt x="99568" y="661162"/>
                </a:lnTo>
                <a:lnTo>
                  <a:pt x="108584" y="649097"/>
                </a:lnTo>
                <a:lnTo>
                  <a:pt x="93344" y="637667"/>
                </a:lnTo>
                <a:close/>
              </a:path>
              <a:path w="4260850" h="1743075">
                <a:moveTo>
                  <a:pt x="27050" y="755650"/>
                </a:moveTo>
                <a:lnTo>
                  <a:pt x="21970" y="767969"/>
                </a:lnTo>
                <a:lnTo>
                  <a:pt x="9906" y="808228"/>
                </a:lnTo>
                <a:lnTo>
                  <a:pt x="5842" y="830707"/>
                </a:lnTo>
                <a:lnTo>
                  <a:pt x="24511" y="834136"/>
                </a:lnTo>
                <a:lnTo>
                  <a:pt x="28193" y="813689"/>
                </a:lnTo>
                <a:lnTo>
                  <a:pt x="39624" y="775208"/>
                </a:lnTo>
                <a:lnTo>
                  <a:pt x="44704" y="763016"/>
                </a:lnTo>
                <a:lnTo>
                  <a:pt x="27050" y="755650"/>
                </a:lnTo>
                <a:close/>
              </a:path>
              <a:path w="4260850" h="1743075">
                <a:moveTo>
                  <a:pt x="0" y="888619"/>
                </a:moveTo>
                <a:lnTo>
                  <a:pt x="3048" y="930529"/>
                </a:lnTo>
                <a:lnTo>
                  <a:pt x="11430" y="966470"/>
                </a:lnTo>
                <a:lnTo>
                  <a:pt x="29971" y="962152"/>
                </a:lnTo>
                <a:lnTo>
                  <a:pt x="22098" y="928370"/>
                </a:lnTo>
                <a:lnTo>
                  <a:pt x="19902" y="909955"/>
                </a:lnTo>
                <a:lnTo>
                  <a:pt x="19812" y="909193"/>
                </a:lnTo>
                <a:lnTo>
                  <a:pt x="19050" y="890524"/>
                </a:lnTo>
                <a:lnTo>
                  <a:pt x="19050" y="889762"/>
                </a:lnTo>
                <a:lnTo>
                  <a:pt x="0" y="888619"/>
                </a:lnTo>
                <a:close/>
              </a:path>
              <a:path w="4260850" h="1743075">
                <a:moveTo>
                  <a:pt x="49911" y="1013079"/>
                </a:moveTo>
                <a:lnTo>
                  <a:pt x="33019" y="1021842"/>
                </a:lnTo>
                <a:lnTo>
                  <a:pt x="48768" y="1051687"/>
                </a:lnTo>
                <a:lnTo>
                  <a:pt x="73025" y="1087882"/>
                </a:lnTo>
                <a:lnTo>
                  <a:pt x="88773" y="1077214"/>
                </a:lnTo>
                <a:lnTo>
                  <a:pt x="65531" y="1042797"/>
                </a:lnTo>
                <a:lnTo>
                  <a:pt x="49911" y="1013079"/>
                </a:lnTo>
                <a:close/>
              </a:path>
              <a:path w="4260850" h="1743075">
                <a:moveTo>
                  <a:pt x="123825" y="1120267"/>
                </a:moveTo>
                <a:lnTo>
                  <a:pt x="109981" y="1133487"/>
                </a:lnTo>
                <a:lnTo>
                  <a:pt x="143763" y="1168793"/>
                </a:lnTo>
                <a:lnTo>
                  <a:pt x="164464" y="1187640"/>
                </a:lnTo>
                <a:lnTo>
                  <a:pt x="177292" y="1173543"/>
                </a:lnTo>
                <a:lnTo>
                  <a:pt x="157606" y="1155623"/>
                </a:lnTo>
                <a:lnTo>
                  <a:pt x="123825" y="1120267"/>
                </a:lnTo>
                <a:close/>
              </a:path>
              <a:path w="4260850" h="1743075">
                <a:moveTo>
                  <a:pt x="220344" y="1210259"/>
                </a:moveTo>
                <a:lnTo>
                  <a:pt x="208406" y="1225105"/>
                </a:lnTo>
                <a:lnTo>
                  <a:pt x="231648" y="1243736"/>
                </a:lnTo>
                <a:lnTo>
                  <a:pt x="269748" y="1271092"/>
                </a:lnTo>
                <a:lnTo>
                  <a:pt x="280796" y="1255598"/>
                </a:lnTo>
                <a:lnTo>
                  <a:pt x="243458" y="1228890"/>
                </a:lnTo>
                <a:lnTo>
                  <a:pt x="220344" y="1210259"/>
                </a:lnTo>
                <a:close/>
              </a:path>
              <a:path w="4260850" h="1743075">
                <a:moveTo>
                  <a:pt x="328040" y="1287030"/>
                </a:moveTo>
                <a:lnTo>
                  <a:pt x="317626" y="1303020"/>
                </a:lnTo>
                <a:lnTo>
                  <a:pt x="337184" y="1315643"/>
                </a:lnTo>
                <a:lnTo>
                  <a:pt x="383286" y="1342669"/>
                </a:lnTo>
                <a:lnTo>
                  <a:pt x="392811" y="1326235"/>
                </a:lnTo>
                <a:lnTo>
                  <a:pt x="347471" y="1299667"/>
                </a:lnTo>
                <a:lnTo>
                  <a:pt x="328040" y="1287030"/>
                </a:lnTo>
                <a:close/>
              </a:path>
              <a:path w="4260850" h="1743075">
                <a:moveTo>
                  <a:pt x="442594" y="1353566"/>
                </a:moveTo>
                <a:lnTo>
                  <a:pt x="433577" y="1370355"/>
                </a:lnTo>
                <a:lnTo>
                  <a:pt x="458977" y="1383957"/>
                </a:lnTo>
                <a:lnTo>
                  <a:pt x="501904" y="1405026"/>
                </a:lnTo>
                <a:lnTo>
                  <a:pt x="510286" y="1387932"/>
                </a:lnTo>
                <a:lnTo>
                  <a:pt x="467994" y="1367180"/>
                </a:lnTo>
                <a:lnTo>
                  <a:pt x="442594" y="1353566"/>
                </a:lnTo>
                <a:close/>
              </a:path>
              <a:path w="4260850" h="1743075">
                <a:moveTo>
                  <a:pt x="561720" y="1412074"/>
                </a:moveTo>
                <a:lnTo>
                  <a:pt x="553846" y="1429435"/>
                </a:lnTo>
                <a:lnTo>
                  <a:pt x="595376" y="1448168"/>
                </a:lnTo>
                <a:lnTo>
                  <a:pt x="623951" y="1460030"/>
                </a:lnTo>
                <a:lnTo>
                  <a:pt x="631317" y="1442427"/>
                </a:lnTo>
                <a:lnTo>
                  <a:pt x="603250" y="1430794"/>
                </a:lnTo>
                <a:lnTo>
                  <a:pt x="561720" y="1412074"/>
                </a:lnTo>
                <a:close/>
              </a:path>
              <a:path w="4260850" h="1743075">
                <a:moveTo>
                  <a:pt x="683894" y="1463992"/>
                </a:moveTo>
                <a:lnTo>
                  <a:pt x="677163" y="1481797"/>
                </a:lnTo>
                <a:lnTo>
                  <a:pt x="744982" y="1507629"/>
                </a:lnTo>
                <a:lnTo>
                  <a:pt x="748538" y="1508899"/>
                </a:lnTo>
                <a:lnTo>
                  <a:pt x="754888" y="1490916"/>
                </a:lnTo>
                <a:lnTo>
                  <a:pt x="751713" y="1489824"/>
                </a:lnTo>
                <a:lnTo>
                  <a:pt x="683894" y="1463992"/>
                </a:lnTo>
                <a:close/>
              </a:path>
              <a:path w="4260850" h="1743075">
                <a:moveTo>
                  <a:pt x="808863" y="1509852"/>
                </a:moveTo>
                <a:lnTo>
                  <a:pt x="802513" y="1527822"/>
                </a:lnTo>
                <a:lnTo>
                  <a:pt x="824230" y="1535430"/>
                </a:lnTo>
                <a:lnTo>
                  <a:pt x="875030" y="1551863"/>
                </a:lnTo>
                <a:lnTo>
                  <a:pt x="880871" y="1533728"/>
                </a:lnTo>
                <a:lnTo>
                  <a:pt x="830452" y="1517459"/>
                </a:lnTo>
                <a:lnTo>
                  <a:pt x="808863" y="1509852"/>
                </a:lnTo>
                <a:close/>
              </a:path>
              <a:path w="4260850" h="1743075">
                <a:moveTo>
                  <a:pt x="935227" y="1550606"/>
                </a:moveTo>
                <a:lnTo>
                  <a:pt x="930016" y="1568462"/>
                </a:lnTo>
                <a:lnTo>
                  <a:pt x="929894" y="1568881"/>
                </a:lnTo>
                <a:lnTo>
                  <a:pt x="990600" y="1586738"/>
                </a:lnTo>
                <a:lnTo>
                  <a:pt x="1003300" y="1590154"/>
                </a:lnTo>
                <a:lnTo>
                  <a:pt x="1008252" y="1571764"/>
                </a:lnTo>
                <a:lnTo>
                  <a:pt x="995933" y="1568462"/>
                </a:lnTo>
                <a:lnTo>
                  <a:pt x="935227" y="1550606"/>
                </a:lnTo>
                <a:close/>
              </a:path>
              <a:path w="4260850" h="1743075">
                <a:moveTo>
                  <a:pt x="1063370" y="1586636"/>
                </a:moveTo>
                <a:lnTo>
                  <a:pt x="1058390" y="1605127"/>
                </a:lnTo>
                <a:lnTo>
                  <a:pt x="1058794" y="1605127"/>
                </a:lnTo>
                <a:lnTo>
                  <a:pt x="1077340" y="1610131"/>
                </a:lnTo>
                <a:lnTo>
                  <a:pt x="1132585" y="1623631"/>
                </a:lnTo>
                <a:lnTo>
                  <a:pt x="1137158" y="1605127"/>
                </a:lnTo>
                <a:lnTo>
                  <a:pt x="1082294" y="1591729"/>
                </a:lnTo>
                <a:lnTo>
                  <a:pt x="1063370" y="1586636"/>
                </a:lnTo>
                <a:close/>
              </a:path>
              <a:path w="4260850" h="1743075">
                <a:moveTo>
                  <a:pt x="1192530" y="1618170"/>
                </a:moveTo>
                <a:lnTo>
                  <a:pt x="1188466" y="1636776"/>
                </a:lnTo>
                <a:lnTo>
                  <a:pt x="1257172" y="1651952"/>
                </a:lnTo>
                <a:lnTo>
                  <a:pt x="1263015" y="1653120"/>
                </a:lnTo>
                <a:lnTo>
                  <a:pt x="1266697" y="1634426"/>
                </a:lnTo>
                <a:lnTo>
                  <a:pt x="1261236" y="1633347"/>
                </a:lnTo>
                <a:lnTo>
                  <a:pt x="1192530" y="1618170"/>
                </a:lnTo>
                <a:close/>
              </a:path>
              <a:path w="4260850" h="1743075">
                <a:moveTo>
                  <a:pt x="1322832" y="1645462"/>
                </a:moveTo>
                <a:lnTo>
                  <a:pt x="1319148" y="1664157"/>
                </a:lnTo>
                <a:lnTo>
                  <a:pt x="1349756" y="1670189"/>
                </a:lnTo>
                <a:lnTo>
                  <a:pt x="1394333" y="1677949"/>
                </a:lnTo>
                <a:lnTo>
                  <a:pt x="1397508" y="1659178"/>
                </a:lnTo>
                <a:lnTo>
                  <a:pt x="1353439" y="1651495"/>
                </a:lnTo>
                <a:lnTo>
                  <a:pt x="1322832" y="1645462"/>
                </a:lnTo>
                <a:close/>
              </a:path>
              <a:path w="4260850" h="1743075">
                <a:moveTo>
                  <a:pt x="1453642" y="1668805"/>
                </a:moveTo>
                <a:lnTo>
                  <a:pt x="1450847" y="1687652"/>
                </a:lnTo>
                <a:lnTo>
                  <a:pt x="1526158" y="1699018"/>
                </a:lnTo>
                <a:lnTo>
                  <a:pt x="1528953" y="1680184"/>
                </a:lnTo>
                <a:lnTo>
                  <a:pt x="1453642" y="1668805"/>
                </a:lnTo>
                <a:close/>
              </a:path>
              <a:path w="4260850" h="1743075">
                <a:moveTo>
                  <a:pt x="1585468" y="1687766"/>
                </a:moveTo>
                <a:lnTo>
                  <a:pt x="1583055" y="1706664"/>
                </a:lnTo>
                <a:lnTo>
                  <a:pt x="1636141" y="1713534"/>
                </a:lnTo>
                <a:lnTo>
                  <a:pt x="1658873" y="1715935"/>
                </a:lnTo>
                <a:lnTo>
                  <a:pt x="1660906" y="1696986"/>
                </a:lnTo>
                <a:lnTo>
                  <a:pt x="1638554" y="1694637"/>
                </a:lnTo>
                <a:lnTo>
                  <a:pt x="1585468" y="1687766"/>
                </a:lnTo>
                <a:close/>
              </a:path>
              <a:path w="4260850" h="1743075">
                <a:moveTo>
                  <a:pt x="1717674" y="1702993"/>
                </a:moveTo>
                <a:lnTo>
                  <a:pt x="1715643" y="1721929"/>
                </a:lnTo>
                <a:lnTo>
                  <a:pt x="1733804" y="1723847"/>
                </a:lnTo>
                <a:lnTo>
                  <a:pt x="1791843" y="1728685"/>
                </a:lnTo>
                <a:lnTo>
                  <a:pt x="1793367" y="1709699"/>
                </a:lnTo>
                <a:lnTo>
                  <a:pt x="1735835" y="1704898"/>
                </a:lnTo>
                <a:lnTo>
                  <a:pt x="1717674" y="1702993"/>
                </a:lnTo>
                <a:close/>
              </a:path>
              <a:path w="4260850" h="1743075">
                <a:moveTo>
                  <a:pt x="1850135" y="1714042"/>
                </a:moveTo>
                <a:lnTo>
                  <a:pt x="1848993" y="1733067"/>
                </a:lnTo>
                <a:lnTo>
                  <a:pt x="1925066" y="1737614"/>
                </a:lnTo>
                <a:lnTo>
                  <a:pt x="1926208" y="1718602"/>
                </a:lnTo>
                <a:lnTo>
                  <a:pt x="1850135" y="1714042"/>
                </a:lnTo>
                <a:close/>
              </a:path>
              <a:path w="4260850" h="1743075">
                <a:moveTo>
                  <a:pt x="1983105" y="1720811"/>
                </a:moveTo>
                <a:lnTo>
                  <a:pt x="1982343" y="1739849"/>
                </a:lnTo>
                <a:lnTo>
                  <a:pt x="2030730" y="1741614"/>
                </a:lnTo>
                <a:lnTo>
                  <a:pt x="2058796" y="1741957"/>
                </a:lnTo>
                <a:lnTo>
                  <a:pt x="2059051" y="1722907"/>
                </a:lnTo>
                <a:lnTo>
                  <a:pt x="2031365" y="1722577"/>
                </a:lnTo>
                <a:lnTo>
                  <a:pt x="1983105" y="1720811"/>
                </a:lnTo>
                <a:close/>
              </a:path>
              <a:path w="4260850" h="1743075">
                <a:moveTo>
                  <a:pt x="2192147" y="1723034"/>
                </a:moveTo>
                <a:lnTo>
                  <a:pt x="2130424" y="1723809"/>
                </a:lnTo>
                <a:lnTo>
                  <a:pt x="2116198" y="1723809"/>
                </a:lnTo>
                <a:lnTo>
                  <a:pt x="2115954" y="1742084"/>
                </a:lnTo>
                <a:lnTo>
                  <a:pt x="2115947" y="1742668"/>
                </a:lnTo>
                <a:lnTo>
                  <a:pt x="2130297" y="1742859"/>
                </a:lnTo>
                <a:lnTo>
                  <a:pt x="2192401" y="1742084"/>
                </a:lnTo>
                <a:lnTo>
                  <a:pt x="2192157" y="1723809"/>
                </a:lnTo>
                <a:lnTo>
                  <a:pt x="2130424" y="1723809"/>
                </a:lnTo>
                <a:lnTo>
                  <a:pt x="2116201" y="1723631"/>
                </a:lnTo>
                <a:lnTo>
                  <a:pt x="2192154" y="1723631"/>
                </a:lnTo>
                <a:lnTo>
                  <a:pt x="2192147" y="1723034"/>
                </a:lnTo>
                <a:close/>
              </a:path>
              <a:path w="4260850" h="1743075">
                <a:moveTo>
                  <a:pt x="2325243" y="1719072"/>
                </a:moveTo>
                <a:lnTo>
                  <a:pt x="2249043" y="1721853"/>
                </a:lnTo>
                <a:lnTo>
                  <a:pt x="2249585" y="1738109"/>
                </a:lnTo>
                <a:lnTo>
                  <a:pt x="2249678" y="1740890"/>
                </a:lnTo>
                <a:lnTo>
                  <a:pt x="2325878" y="1738109"/>
                </a:lnTo>
                <a:lnTo>
                  <a:pt x="2325335" y="1721853"/>
                </a:lnTo>
                <a:lnTo>
                  <a:pt x="2325243" y="1719072"/>
                </a:lnTo>
                <a:close/>
              </a:path>
              <a:path w="4260850" h="1743075">
                <a:moveTo>
                  <a:pt x="2457831" y="1710397"/>
                </a:moveTo>
                <a:lnTo>
                  <a:pt x="2427097" y="1712963"/>
                </a:lnTo>
                <a:lnTo>
                  <a:pt x="2382011" y="1715706"/>
                </a:lnTo>
                <a:lnTo>
                  <a:pt x="2383155" y="1734718"/>
                </a:lnTo>
                <a:lnTo>
                  <a:pt x="2428367" y="1731975"/>
                </a:lnTo>
                <a:lnTo>
                  <a:pt x="2459355" y="1729384"/>
                </a:lnTo>
                <a:lnTo>
                  <a:pt x="2457831" y="1710397"/>
                </a:lnTo>
                <a:close/>
              </a:path>
              <a:path w="4260850" h="1743075">
                <a:moveTo>
                  <a:pt x="2590292" y="1697837"/>
                </a:moveTo>
                <a:lnTo>
                  <a:pt x="2525141" y="1704784"/>
                </a:lnTo>
                <a:lnTo>
                  <a:pt x="2514727" y="1705648"/>
                </a:lnTo>
                <a:lnTo>
                  <a:pt x="2516302" y="1723771"/>
                </a:lnTo>
                <a:lnTo>
                  <a:pt x="2516378" y="1724634"/>
                </a:lnTo>
                <a:lnTo>
                  <a:pt x="2526665" y="1723771"/>
                </a:lnTo>
                <a:lnTo>
                  <a:pt x="2592323" y="1716786"/>
                </a:lnTo>
                <a:lnTo>
                  <a:pt x="2590292" y="1697837"/>
                </a:lnTo>
                <a:close/>
              </a:path>
              <a:path w="4260850" h="1743075">
                <a:moveTo>
                  <a:pt x="2722245" y="1681429"/>
                </a:moveTo>
                <a:lnTo>
                  <a:pt x="2718689" y="1681975"/>
                </a:lnTo>
                <a:lnTo>
                  <a:pt x="2646934" y="1691259"/>
                </a:lnTo>
                <a:lnTo>
                  <a:pt x="2649347" y="1710143"/>
                </a:lnTo>
                <a:lnTo>
                  <a:pt x="2721102" y="1700860"/>
                </a:lnTo>
                <a:lnTo>
                  <a:pt x="2725039" y="1700250"/>
                </a:lnTo>
                <a:lnTo>
                  <a:pt x="2722326" y="1681975"/>
                </a:lnTo>
                <a:lnTo>
                  <a:pt x="2722245" y="1681429"/>
                </a:lnTo>
                <a:close/>
              </a:path>
              <a:path w="4260850" h="1743075">
                <a:moveTo>
                  <a:pt x="2853690" y="1660448"/>
                </a:moveTo>
                <a:lnTo>
                  <a:pt x="2813685" y="1667433"/>
                </a:lnTo>
                <a:lnTo>
                  <a:pt x="2778760" y="1672780"/>
                </a:lnTo>
                <a:lnTo>
                  <a:pt x="2781554" y="1691614"/>
                </a:lnTo>
                <a:lnTo>
                  <a:pt x="2816606" y="1686255"/>
                </a:lnTo>
                <a:lnTo>
                  <a:pt x="2856992" y="1679219"/>
                </a:lnTo>
                <a:lnTo>
                  <a:pt x="2853690" y="1660448"/>
                </a:lnTo>
                <a:close/>
              </a:path>
              <a:path w="4260850" h="1743075">
                <a:moveTo>
                  <a:pt x="2984499" y="1635747"/>
                </a:moveTo>
                <a:lnTo>
                  <a:pt x="2909823" y="1650619"/>
                </a:lnTo>
                <a:lnTo>
                  <a:pt x="2913507" y="1669300"/>
                </a:lnTo>
                <a:lnTo>
                  <a:pt x="2988183" y="1654441"/>
                </a:lnTo>
                <a:lnTo>
                  <a:pt x="2984499" y="1635747"/>
                </a:lnTo>
                <a:close/>
              </a:path>
              <a:path w="4260850" h="1743075">
                <a:moveTo>
                  <a:pt x="3114167" y="1606740"/>
                </a:moveTo>
                <a:lnTo>
                  <a:pt x="3090036" y="1612684"/>
                </a:lnTo>
                <a:lnTo>
                  <a:pt x="3040126" y="1623745"/>
                </a:lnTo>
                <a:lnTo>
                  <a:pt x="3044317" y="1642351"/>
                </a:lnTo>
                <a:lnTo>
                  <a:pt x="3094101" y="1631276"/>
                </a:lnTo>
                <a:lnTo>
                  <a:pt x="3118739" y="1625244"/>
                </a:lnTo>
                <a:lnTo>
                  <a:pt x="3114167" y="1606740"/>
                </a:lnTo>
                <a:close/>
              </a:path>
              <a:path w="4260850" h="1743075">
                <a:moveTo>
                  <a:pt x="3243072" y="1573466"/>
                </a:moveTo>
                <a:lnTo>
                  <a:pt x="3178556" y="1590916"/>
                </a:lnTo>
                <a:lnTo>
                  <a:pt x="3169666" y="1593100"/>
                </a:lnTo>
                <a:lnTo>
                  <a:pt x="3174237" y="1611604"/>
                </a:lnTo>
                <a:lnTo>
                  <a:pt x="3183128" y="1609420"/>
                </a:lnTo>
                <a:lnTo>
                  <a:pt x="3248024" y="1591843"/>
                </a:lnTo>
                <a:lnTo>
                  <a:pt x="3243072" y="1573466"/>
                </a:lnTo>
                <a:close/>
              </a:path>
              <a:path w="4260850" h="1743075">
                <a:moveTo>
                  <a:pt x="3370453" y="1535671"/>
                </a:moveTo>
                <a:lnTo>
                  <a:pt x="3348990" y="1542656"/>
                </a:lnTo>
                <a:lnTo>
                  <a:pt x="3297808" y="1557807"/>
                </a:lnTo>
                <a:lnTo>
                  <a:pt x="3303270" y="1576070"/>
                </a:lnTo>
                <a:lnTo>
                  <a:pt x="3354324" y="1560918"/>
                </a:lnTo>
                <a:lnTo>
                  <a:pt x="3376295" y="1553794"/>
                </a:lnTo>
                <a:lnTo>
                  <a:pt x="3370453" y="1535671"/>
                </a:lnTo>
                <a:close/>
              </a:path>
              <a:path w="4260850" h="1743075">
                <a:moveTo>
                  <a:pt x="3496564" y="1492885"/>
                </a:moveTo>
                <a:lnTo>
                  <a:pt x="3430397" y="1516240"/>
                </a:lnTo>
                <a:lnTo>
                  <a:pt x="3424808" y="1518056"/>
                </a:lnTo>
                <a:lnTo>
                  <a:pt x="3430778" y="1536179"/>
                </a:lnTo>
                <a:lnTo>
                  <a:pt x="3436366" y="1534363"/>
                </a:lnTo>
                <a:lnTo>
                  <a:pt x="3502914" y="1510842"/>
                </a:lnTo>
                <a:lnTo>
                  <a:pt x="3496564" y="1492885"/>
                </a:lnTo>
                <a:close/>
              </a:path>
              <a:path w="4260850" h="1743075">
                <a:moveTo>
                  <a:pt x="3620261" y="1444675"/>
                </a:moveTo>
                <a:lnTo>
                  <a:pt x="3585082" y="1459357"/>
                </a:lnTo>
                <a:lnTo>
                  <a:pt x="3549777" y="1472857"/>
                </a:lnTo>
                <a:lnTo>
                  <a:pt x="3556634" y="1490649"/>
                </a:lnTo>
                <a:lnTo>
                  <a:pt x="3591814" y="1477137"/>
                </a:lnTo>
                <a:lnTo>
                  <a:pt x="3627628" y="1462265"/>
                </a:lnTo>
                <a:lnTo>
                  <a:pt x="3620261" y="1444675"/>
                </a:lnTo>
                <a:close/>
              </a:path>
              <a:path w="4260850" h="1743075">
                <a:moveTo>
                  <a:pt x="3741420" y="1390535"/>
                </a:moveTo>
                <a:lnTo>
                  <a:pt x="3727196" y="1397558"/>
                </a:lnTo>
                <a:lnTo>
                  <a:pt x="3672585" y="1422349"/>
                </a:lnTo>
                <a:lnTo>
                  <a:pt x="3680459" y="1439697"/>
                </a:lnTo>
                <a:lnTo>
                  <a:pt x="3735070" y="1414919"/>
                </a:lnTo>
                <a:lnTo>
                  <a:pt x="3749802" y="1407604"/>
                </a:lnTo>
                <a:lnTo>
                  <a:pt x="3741420" y="1390535"/>
                </a:lnTo>
                <a:close/>
              </a:path>
              <a:path w="4260850" h="1743075">
                <a:moveTo>
                  <a:pt x="3859022" y="1329207"/>
                </a:moveTo>
                <a:lnTo>
                  <a:pt x="3855211" y="1331468"/>
                </a:lnTo>
                <a:lnTo>
                  <a:pt x="3792981" y="1365034"/>
                </a:lnTo>
                <a:lnTo>
                  <a:pt x="3792601" y="1365211"/>
                </a:lnTo>
                <a:lnTo>
                  <a:pt x="3801021" y="1382102"/>
                </a:lnTo>
                <a:lnTo>
                  <a:pt x="3801109" y="1382280"/>
                </a:lnTo>
                <a:lnTo>
                  <a:pt x="3801491" y="1382102"/>
                </a:lnTo>
                <a:lnTo>
                  <a:pt x="3864229" y="1348232"/>
                </a:lnTo>
                <a:lnTo>
                  <a:pt x="3868674" y="1345615"/>
                </a:lnTo>
                <a:lnTo>
                  <a:pt x="3859022" y="1329207"/>
                </a:lnTo>
                <a:close/>
              </a:path>
              <a:path w="4260850" h="1743075">
                <a:moveTo>
                  <a:pt x="3971417" y="1259090"/>
                </a:moveTo>
                <a:lnTo>
                  <a:pt x="3967733" y="1261770"/>
                </a:lnTo>
                <a:lnTo>
                  <a:pt x="3913504" y="1297063"/>
                </a:lnTo>
                <a:lnTo>
                  <a:pt x="3908298" y="1300187"/>
                </a:lnTo>
                <a:lnTo>
                  <a:pt x="3917950" y="1316609"/>
                </a:lnTo>
                <a:lnTo>
                  <a:pt x="3923283" y="1313484"/>
                </a:lnTo>
                <a:lnTo>
                  <a:pt x="3978021" y="1277721"/>
                </a:lnTo>
                <a:lnTo>
                  <a:pt x="3982466" y="1274559"/>
                </a:lnTo>
                <a:lnTo>
                  <a:pt x="3971417" y="1259090"/>
                </a:lnTo>
                <a:close/>
              </a:path>
              <a:path w="4260850" h="1743075">
                <a:moveTo>
                  <a:pt x="4075429" y="1177734"/>
                </a:moveTo>
                <a:lnTo>
                  <a:pt x="4062983" y="1189177"/>
                </a:lnTo>
                <a:lnTo>
                  <a:pt x="4017391" y="1226019"/>
                </a:lnTo>
                <a:lnTo>
                  <a:pt x="4029329" y="1240853"/>
                </a:lnTo>
                <a:lnTo>
                  <a:pt x="4074922" y="1204010"/>
                </a:lnTo>
                <a:lnTo>
                  <a:pt x="4088383" y="1191780"/>
                </a:lnTo>
                <a:lnTo>
                  <a:pt x="4075429" y="1177734"/>
                </a:lnTo>
                <a:close/>
              </a:path>
              <a:path w="4260850" h="1743075">
                <a:moveTo>
                  <a:pt x="4165727" y="1081786"/>
                </a:moveTo>
                <a:lnTo>
                  <a:pt x="4139437" y="1114298"/>
                </a:lnTo>
                <a:lnTo>
                  <a:pt x="4116197" y="1138656"/>
                </a:lnTo>
                <a:lnTo>
                  <a:pt x="4130040" y="1151788"/>
                </a:lnTo>
                <a:lnTo>
                  <a:pt x="4153280" y="1127379"/>
                </a:lnTo>
                <a:lnTo>
                  <a:pt x="4180458" y="1093724"/>
                </a:lnTo>
                <a:lnTo>
                  <a:pt x="4165727" y="1081786"/>
                </a:lnTo>
                <a:close/>
              </a:path>
              <a:path w="4260850" h="1743075">
                <a:moveTo>
                  <a:pt x="4227576" y="967867"/>
                </a:moveTo>
                <a:lnTo>
                  <a:pt x="4215765" y="999617"/>
                </a:lnTo>
                <a:lnTo>
                  <a:pt x="4196587" y="1036066"/>
                </a:lnTo>
                <a:lnTo>
                  <a:pt x="4213479" y="1044829"/>
                </a:lnTo>
                <a:lnTo>
                  <a:pt x="4232529" y="1008380"/>
                </a:lnTo>
                <a:lnTo>
                  <a:pt x="4245356" y="974598"/>
                </a:lnTo>
                <a:lnTo>
                  <a:pt x="4227576" y="967867"/>
                </a:lnTo>
                <a:close/>
              </a:path>
              <a:path w="4260850" h="1743075">
                <a:moveTo>
                  <a:pt x="4257167" y="837946"/>
                </a:moveTo>
                <a:lnTo>
                  <a:pt x="4238371" y="841375"/>
                </a:lnTo>
                <a:lnTo>
                  <a:pt x="4239259" y="845947"/>
                </a:lnTo>
                <a:lnTo>
                  <a:pt x="4241673" y="884809"/>
                </a:lnTo>
                <a:lnTo>
                  <a:pt x="4240910" y="903986"/>
                </a:lnTo>
                <a:lnTo>
                  <a:pt x="4239768" y="914527"/>
                </a:lnTo>
                <a:lnTo>
                  <a:pt x="4258691" y="916686"/>
                </a:lnTo>
                <a:lnTo>
                  <a:pt x="4259833" y="906145"/>
                </a:lnTo>
                <a:lnTo>
                  <a:pt x="4260723" y="885444"/>
                </a:lnTo>
                <a:lnTo>
                  <a:pt x="4258377" y="845947"/>
                </a:lnTo>
                <a:lnTo>
                  <a:pt x="4258309" y="844804"/>
                </a:lnTo>
                <a:lnTo>
                  <a:pt x="4257167" y="837946"/>
                </a:lnTo>
                <a:close/>
              </a:path>
              <a:path w="4260850" h="1743075">
                <a:moveTo>
                  <a:pt x="4215510" y="709041"/>
                </a:moveTo>
                <a:lnTo>
                  <a:pt x="4198620" y="717804"/>
                </a:lnTo>
                <a:lnTo>
                  <a:pt x="4205224" y="730504"/>
                </a:lnTo>
                <a:lnTo>
                  <a:pt x="4220972" y="768857"/>
                </a:lnTo>
                <a:lnTo>
                  <a:pt x="4226179" y="786638"/>
                </a:lnTo>
                <a:lnTo>
                  <a:pt x="4244467" y="781304"/>
                </a:lnTo>
                <a:lnTo>
                  <a:pt x="4239133" y="763524"/>
                </a:lnTo>
                <a:lnTo>
                  <a:pt x="4222877" y="723265"/>
                </a:lnTo>
                <a:lnTo>
                  <a:pt x="4215510" y="709041"/>
                </a:lnTo>
                <a:close/>
              </a:path>
              <a:path w="4260850" h="1743075">
                <a:moveTo>
                  <a:pt x="4140961" y="596265"/>
                </a:moveTo>
                <a:lnTo>
                  <a:pt x="4126483" y="608584"/>
                </a:lnTo>
                <a:lnTo>
                  <a:pt x="4133469" y="616838"/>
                </a:lnTo>
                <a:lnTo>
                  <a:pt x="4161408" y="654431"/>
                </a:lnTo>
                <a:lnTo>
                  <a:pt x="4170553" y="668909"/>
                </a:lnTo>
                <a:lnTo>
                  <a:pt x="4186681" y="658749"/>
                </a:lnTo>
                <a:lnTo>
                  <a:pt x="4177537" y="644271"/>
                </a:lnTo>
                <a:lnTo>
                  <a:pt x="4148835" y="605536"/>
                </a:lnTo>
                <a:lnTo>
                  <a:pt x="4140961" y="596265"/>
                </a:lnTo>
                <a:close/>
              </a:path>
              <a:path w="4260850" h="1743075">
                <a:moveTo>
                  <a:pt x="4047490" y="499744"/>
                </a:moveTo>
                <a:lnTo>
                  <a:pt x="4034535" y="513715"/>
                </a:lnTo>
                <a:lnTo>
                  <a:pt x="4066540" y="543306"/>
                </a:lnTo>
                <a:lnTo>
                  <a:pt x="4088765" y="566293"/>
                </a:lnTo>
                <a:lnTo>
                  <a:pt x="4102480" y="553085"/>
                </a:lnTo>
                <a:lnTo>
                  <a:pt x="4080255" y="530098"/>
                </a:lnTo>
                <a:lnTo>
                  <a:pt x="4047490" y="499744"/>
                </a:lnTo>
                <a:close/>
              </a:path>
              <a:path w="4260850" h="1743075">
                <a:moveTo>
                  <a:pt x="3942079" y="415925"/>
                </a:moveTo>
                <a:lnTo>
                  <a:pt x="3931284" y="431673"/>
                </a:lnTo>
                <a:lnTo>
                  <a:pt x="3940302" y="437896"/>
                </a:lnTo>
                <a:lnTo>
                  <a:pt x="3985641" y="472313"/>
                </a:lnTo>
                <a:lnTo>
                  <a:pt x="3991355" y="477012"/>
                </a:lnTo>
                <a:lnTo>
                  <a:pt x="4003548" y="462406"/>
                </a:lnTo>
                <a:lnTo>
                  <a:pt x="3997832" y="457707"/>
                </a:lnTo>
                <a:lnTo>
                  <a:pt x="3951858" y="422782"/>
                </a:lnTo>
                <a:lnTo>
                  <a:pt x="3942079" y="415925"/>
                </a:lnTo>
                <a:close/>
              </a:path>
              <a:path w="4260850" h="1743075">
                <a:moveTo>
                  <a:pt x="3829430" y="343407"/>
                </a:moveTo>
                <a:lnTo>
                  <a:pt x="3819779" y="359918"/>
                </a:lnTo>
                <a:lnTo>
                  <a:pt x="3840733" y="371982"/>
                </a:lnTo>
                <a:lnTo>
                  <a:pt x="3884422" y="399669"/>
                </a:lnTo>
                <a:lnTo>
                  <a:pt x="3894581" y="383540"/>
                </a:lnTo>
                <a:lnTo>
                  <a:pt x="3850894" y="355854"/>
                </a:lnTo>
                <a:lnTo>
                  <a:pt x="3829430" y="343407"/>
                </a:lnTo>
                <a:close/>
              </a:path>
              <a:path w="4260850" h="1743075">
                <a:moveTo>
                  <a:pt x="3711448" y="279907"/>
                </a:moveTo>
                <a:lnTo>
                  <a:pt x="3703066" y="297053"/>
                </a:lnTo>
                <a:lnTo>
                  <a:pt x="3730117" y="310261"/>
                </a:lnTo>
                <a:lnTo>
                  <a:pt x="3770376" y="331850"/>
                </a:lnTo>
                <a:lnTo>
                  <a:pt x="3779393" y="315087"/>
                </a:lnTo>
                <a:lnTo>
                  <a:pt x="3739006" y="293497"/>
                </a:lnTo>
                <a:lnTo>
                  <a:pt x="3711448" y="279907"/>
                </a:lnTo>
                <a:close/>
              </a:path>
              <a:path w="4260850" h="1743075">
                <a:moveTo>
                  <a:pt x="3589528" y="224536"/>
                </a:moveTo>
                <a:lnTo>
                  <a:pt x="3582161" y="242062"/>
                </a:lnTo>
                <a:lnTo>
                  <a:pt x="3609721" y="253492"/>
                </a:lnTo>
                <a:lnTo>
                  <a:pt x="3651757" y="272542"/>
                </a:lnTo>
                <a:lnTo>
                  <a:pt x="3659504" y="255143"/>
                </a:lnTo>
                <a:lnTo>
                  <a:pt x="3617595" y="236219"/>
                </a:lnTo>
                <a:lnTo>
                  <a:pt x="3589528" y="224536"/>
                </a:lnTo>
                <a:close/>
              </a:path>
              <a:path w="4260850" h="1743075">
                <a:moveTo>
                  <a:pt x="3464559" y="176403"/>
                </a:moveTo>
                <a:lnTo>
                  <a:pt x="3458209" y="194437"/>
                </a:lnTo>
                <a:lnTo>
                  <a:pt x="3480943" y="202311"/>
                </a:lnTo>
                <a:lnTo>
                  <a:pt x="3529456" y="220725"/>
                </a:lnTo>
                <a:lnTo>
                  <a:pt x="3536187" y="202946"/>
                </a:lnTo>
                <a:lnTo>
                  <a:pt x="3487674" y="184531"/>
                </a:lnTo>
                <a:lnTo>
                  <a:pt x="3464559" y="176403"/>
                </a:lnTo>
                <a:close/>
              </a:path>
              <a:path w="4260850" h="1743075">
                <a:moveTo>
                  <a:pt x="3337179" y="135255"/>
                </a:moveTo>
                <a:lnTo>
                  <a:pt x="3331972" y="153543"/>
                </a:lnTo>
                <a:lnTo>
                  <a:pt x="3344926" y="157225"/>
                </a:lnTo>
                <a:lnTo>
                  <a:pt x="3404489" y="176022"/>
                </a:lnTo>
                <a:lnTo>
                  <a:pt x="3410204" y="157861"/>
                </a:lnTo>
                <a:lnTo>
                  <a:pt x="3350641" y="139065"/>
                </a:lnTo>
                <a:lnTo>
                  <a:pt x="3337179" y="135255"/>
                </a:lnTo>
                <a:close/>
              </a:path>
              <a:path w="4260850" h="1743075">
                <a:moveTo>
                  <a:pt x="3208147" y="100584"/>
                </a:moveTo>
                <a:lnTo>
                  <a:pt x="3203512" y="118872"/>
                </a:lnTo>
                <a:lnTo>
                  <a:pt x="3203447" y="119125"/>
                </a:lnTo>
                <a:lnTo>
                  <a:pt x="3276980" y="137922"/>
                </a:lnTo>
                <a:lnTo>
                  <a:pt x="3282187" y="119634"/>
                </a:lnTo>
                <a:lnTo>
                  <a:pt x="3279648" y="118872"/>
                </a:lnTo>
                <a:lnTo>
                  <a:pt x="3208147" y="100584"/>
                </a:lnTo>
                <a:close/>
              </a:path>
              <a:path w="4260850" h="1743075">
                <a:moveTo>
                  <a:pt x="3077083" y="72898"/>
                </a:moveTo>
                <a:lnTo>
                  <a:pt x="3073527" y="91567"/>
                </a:lnTo>
                <a:lnTo>
                  <a:pt x="3129787" y="102616"/>
                </a:lnTo>
                <a:lnTo>
                  <a:pt x="3147948" y="106680"/>
                </a:lnTo>
                <a:lnTo>
                  <a:pt x="3152012" y="88137"/>
                </a:lnTo>
                <a:lnTo>
                  <a:pt x="3133852" y="84074"/>
                </a:lnTo>
                <a:lnTo>
                  <a:pt x="3077083" y="72898"/>
                </a:lnTo>
                <a:close/>
              </a:path>
              <a:path w="4260850" h="1743075">
                <a:moveTo>
                  <a:pt x="2945003" y="51562"/>
                </a:moveTo>
                <a:lnTo>
                  <a:pt x="2942335" y="70357"/>
                </a:lnTo>
                <a:lnTo>
                  <a:pt x="2980817" y="75692"/>
                </a:lnTo>
                <a:lnTo>
                  <a:pt x="3017520" y="81787"/>
                </a:lnTo>
                <a:lnTo>
                  <a:pt x="3020568" y="62992"/>
                </a:lnTo>
                <a:lnTo>
                  <a:pt x="2983992" y="56896"/>
                </a:lnTo>
                <a:lnTo>
                  <a:pt x="2945003" y="51562"/>
                </a:lnTo>
                <a:close/>
              </a:path>
              <a:path w="4260850" h="1743075">
                <a:moveTo>
                  <a:pt x="2811907" y="36703"/>
                </a:moveTo>
                <a:lnTo>
                  <a:pt x="2810383" y="55753"/>
                </a:lnTo>
                <a:lnTo>
                  <a:pt x="2828924" y="57150"/>
                </a:lnTo>
                <a:lnTo>
                  <a:pt x="2885947" y="63246"/>
                </a:lnTo>
                <a:lnTo>
                  <a:pt x="2887980" y="44323"/>
                </a:lnTo>
                <a:lnTo>
                  <a:pt x="2830830" y="38227"/>
                </a:lnTo>
                <a:lnTo>
                  <a:pt x="2811907" y="36703"/>
                </a:lnTo>
                <a:close/>
              </a:path>
              <a:path w="4260850" h="1743075">
                <a:moveTo>
                  <a:pt x="2678557" y="28702"/>
                </a:moveTo>
                <a:lnTo>
                  <a:pt x="2677668" y="47752"/>
                </a:lnTo>
                <a:lnTo>
                  <a:pt x="2754846" y="51307"/>
                </a:lnTo>
                <a:lnTo>
                  <a:pt x="2753486" y="51307"/>
                </a:lnTo>
                <a:lnTo>
                  <a:pt x="2754884" y="32257"/>
                </a:lnTo>
                <a:lnTo>
                  <a:pt x="2756393" y="32257"/>
                </a:lnTo>
                <a:lnTo>
                  <a:pt x="2678557" y="28702"/>
                </a:lnTo>
                <a:close/>
              </a:path>
              <a:path w="4260850" h="1743075">
                <a:moveTo>
                  <a:pt x="2674873" y="0"/>
                </a:moveTo>
                <a:lnTo>
                  <a:pt x="2598039" y="36830"/>
                </a:lnTo>
                <a:lnTo>
                  <a:pt x="2673604" y="76200"/>
                </a:lnTo>
                <a:lnTo>
                  <a:pt x="2674873" y="0"/>
                </a:lnTo>
                <a:close/>
              </a:path>
            </a:pathLst>
          </a:custGeom>
          <a:solidFill>
            <a:srgbClr val="94AA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79850" y="3282886"/>
            <a:ext cx="8578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Commander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29050" y="2524125"/>
            <a:ext cx="942975" cy="752475"/>
            <a:chOff x="3829050" y="2524125"/>
            <a:chExt cx="942975" cy="752475"/>
          </a:xfrm>
        </p:grpSpPr>
        <p:sp>
          <p:nvSpPr>
            <p:cNvPr id="8" name="object 8"/>
            <p:cNvSpPr/>
            <p:nvPr/>
          </p:nvSpPr>
          <p:spPr>
            <a:xfrm>
              <a:off x="4033900" y="2890900"/>
              <a:ext cx="542925" cy="323850"/>
            </a:xfrm>
            <a:custGeom>
              <a:avLst/>
              <a:gdLst/>
              <a:ahLst/>
              <a:cxnLst/>
              <a:rect l="l" t="t" r="r" b="b"/>
              <a:pathLst>
                <a:path w="542925" h="323850">
                  <a:moveTo>
                    <a:pt x="488823" y="0"/>
                  </a:moveTo>
                  <a:lnTo>
                    <a:pt x="53975" y="0"/>
                  </a:lnTo>
                  <a:lnTo>
                    <a:pt x="32950" y="4236"/>
                  </a:lnTo>
                  <a:lnTo>
                    <a:pt x="15795" y="15795"/>
                  </a:lnTo>
                  <a:lnTo>
                    <a:pt x="4236" y="32950"/>
                  </a:lnTo>
                  <a:lnTo>
                    <a:pt x="0" y="53975"/>
                  </a:lnTo>
                  <a:lnTo>
                    <a:pt x="0" y="269748"/>
                  </a:lnTo>
                  <a:lnTo>
                    <a:pt x="4236" y="290792"/>
                  </a:lnTo>
                  <a:lnTo>
                    <a:pt x="15795" y="307990"/>
                  </a:lnTo>
                  <a:lnTo>
                    <a:pt x="32950" y="319593"/>
                  </a:lnTo>
                  <a:lnTo>
                    <a:pt x="53975" y="323850"/>
                  </a:lnTo>
                  <a:lnTo>
                    <a:pt x="488823" y="323850"/>
                  </a:lnTo>
                  <a:lnTo>
                    <a:pt x="509867" y="319593"/>
                  </a:lnTo>
                  <a:lnTo>
                    <a:pt x="527065" y="307990"/>
                  </a:lnTo>
                  <a:lnTo>
                    <a:pt x="538668" y="290792"/>
                  </a:lnTo>
                  <a:lnTo>
                    <a:pt x="542925" y="269748"/>
                  </a:lnTo>
                  <a:lnTo>
                    <a:pt x="542925" y="53975"/>
                  </a:lnTo>
                  <a:lnTo>
                    <a:pt x="538668" y="32950"/>
                  </a:lnTo>
                  <a:lnTo>
                    <a:pt x="527065" y="15795"/>
                  </a:lnTo>
                  <a:lnTo>
                    <a:pt x="509867" y="4236"/>
                  </a:lnTo>
                  <a:lnTo>
                    <a:pt x="488823" y="0"/>
                  </a:lnTo>
                  <a:close/>
                </a:path>
              </a:pathLst>
            </a:custGeom>
            <a:solidFill>
              <a:srgbClr val="FAD2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3900" y="2890900"/>
              <a:ext cx="542925" cy="323850"/>
            </a:xfrm>
            <a:custGeom>
              <a:avLst/>
              <a:gdLst/>
              <a:ahLst/>
              <a:cxnLst/>
              <a:rect l="l" t="t" r="r" b="b"/>
              <a:pathLst>
                <a:path w="542925" h="323850">
                  <a:moveTo>
                    <a:pt x="0" y="53975"/>
                  </a:moveTo>
                  <a:lnTo>
                    <a:pt x="4236" y="32950"/>
                  </a:lnTo>
                  <a:lnTo>
                    <a:pt x="15795" y="15795"/>
                  </a:lnTo>
                  <a:lnTo>
                    <a:pt x="32950" y="4236"/>
                  </a:lnTo>
                  <a:lnTo>
                    <a:pt x="53975" y="0"/>
                  </a:lnTo>
                  <a:lnTo>
                    <a:pt x="488823" y="0"/>
                  </a:lnTo>
                  <a:lnTo>
                    <a:pt x="509867" y="4236"/>
                  </a:lnTo>
                  <a:lnTo>
                    <a:pt x="527065" y="15795"/>
                  </a:lnTo>
                  <a:lnTo>
                    <a:pt x="538668" y="32950"/>
                  </a:lnTo>
                  <a:lnTo>
                    <a:pt x="542925" y="53975"/>
                  </a:lnTo>
                  <a:lnTo>
                    <a:pt x="542925" y="269748"/>
                  </a:lnTo>
                  <a:lnTo>
                    <a:pt x="538668" y="290792"/>
                  </a:lnTo>
                  <a:lnTo>
                    <a:pt x="527065" y="307990"/>
                  </a:lnTo>
                  <a:lnTo>
                    <a:pt x="509867" y="319593"/>
                  </a:lnTo>
                  <a:lnTo>
                    <a:pt x="488823" y="323850"/>
                  </a:lnTo>
                  <a:lnTo>
                    <a:pt x="53975" y="323850"/>
                  </a:lnTo>
                  <a:lnTo>
                    <a:pt x="32950" y="319593"/>
                  </a:lnTo>
                  <a:lnTo>
                    <a:pt x="15795" y="307990"/>
                  </a:lnTo>
                  <a:lnTo>
                    <a:pt x="4236" y="290792"/>
                  </a:lnTo>
                  <a:lnTo>
                    <a:pt x="0" y="269748"/>
                  </a:lnTo>
                  <a:lnTo>
                    <a:pt x="0" y="53975"/>
                  </a:lnTo>
                  <a:close/>
                </a:path>
              </a:pathLst>
            </a:custGeom>
            <a:ln w="12700">
              <a:solidFill>
                <a:srgbClr val="4055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8575" y="2533650"/>
              <a:ext cx="923925" cy="733425"/>
            </a:xfrm>
            <a:custGeom>
              <a:avLst/>
              <a:gdLst/>
              <a:ahLst/>
              <a:cxnLst/>
              <a:rect l="l" t="t" r="r" b="b"/>
              <a:pathLst>
                <a:path w="923925" h="733425">
                  <a:moveTo>
                    <a:pt x="0" y="733425"/>
                  </a:moveTo>
                  <a:lnTo>
                    <a:pt x="923925" y="733425"/>
                  </a:lnTo>
                  <a:lnTo>
                    <a:pt x="923925" y="0"/>
                  </a:lnTo>
                  <a:lnTo>
                    <a:pt x="0" y="0"/>
                  </a:lnTo>
                  <a:lnTo>
                    <a:pt x="0" y="733425"/>
                  </a:lnTo>
                  <a:close/>
                </a:path>
              </a:pathLst>
            </a:custGeom>
            <a:ln w="19050">
              <a:solidFill>
                <a:srgbClr val="BB0E6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81475" y="2914650"/>
              <a:ext cx="266700" cy="2667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24325" y="2543175"/>
              <a:ext cx="352425" cy="3619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895850" y="4124325"/>
            <a:ext cx="923925" cy="3048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8064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Safeguard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86325" y="3381375"/>
            <a:ext cx="942975" cy="742950"/>
            <a:chOff x="4886325" y="3381375"/>
            <a:chExt cx="942975" cy="742950"/>
          </a:xfrm>
        </p:grpSpPr>
        <p:sp>
          <p:nvSpPr>
            <p:cNvPr id="15" name="object 15"/>
            <p:cNvSpPr/>
            <p:nvPr/>
          </p:nvSpPr>
          <p:spPr>
            <a:xfrm>
              <a:off x="5105400" y="3762375"/>
              <a:ext cx="504825" cy="304800"/>
            </a:xfrm>
            <a:custGeom>
              <a:avLst/>
              <a:gdLst/>
              <a:ahLst/>
              <a:cxnLst/>
              <a:rect l="l" t="t" r="r" b="b"/>
              <a:pathLst>
                <a:path w="504825" h="304800">
                  <a:moveTo>
                    <a:pt x="454025" y="0"/>
                  </a:moveTo>
                  <a:lnTo>
                    <a:pt x="50800" y="0"/>
                  </a:lnTo>
                  <a:lnTo>
                    <a:pt x="31021" y="3990"/>
                  </a:lnTo>
                  <a:lnTo>
                    <a:pt x="14874" y="14874"/>
                  </a:lnTo>
                  <a:lnTo>
                    <a:pt x="3990" y="31021"/>
                  </a:lnTo>
                  <a:lnTo>
                    <a:pt x="0" y="50800"/>
                  </a:lnTo>
                  <a:lnTo>
                    <a:pt x="0" y="254000"/>
                  </a:lnTo>
                  <a:lnTo>
                    <a:pt x="3990" y="273772"/>
                  </a:lnTo>
                  <a:lnTo>
                    <a:pt x="14874" y="289920"/>
                  </a:lnTo>
                  <a:lnTo>
                    <a:pt x="31021" y="300807"/>
                  </a:lnTo>
                  <a:lnTo>
                    <a:pt x="50800" y="304800"/>
                  </a:lnTo>
                  <a:lnTo>
                    <a:pt x="454025" y="304800"/>
                  </a:lnTo>
                  <a:lnTo>
                    <a:pt x="473803" y="300807"/>
                  </a:lnTo>
                  <a:lnTo>
                    <a:pt x="489950" y="289920"/>
                  </a:lnTo>
                  <a:lnTo>
                    <a:pt x="500834" y="273772"/>
                  </a:lnTo>
                  <a:lnTo>
                    <a:pt x="504825" y="254000"/>
                  </a:lnTo>
                  <a:lnTo>
                    <a:pt x="504825" y="50800"/>
                  </a:lnTo>
                  <a:lnTo>
                    <a:pt x="500834" y="31021"/>
                  </a:lnTo>
                  <a:lnTo>
                    <a:pt x="489950" y="14874"/>
                  </a:lnTo>
                  <a:lnTo>
                    <a:pt x="473803" y="3990"/>
                  </a:lnTo>
                  <a:lnTo>
                    <a:pt x="454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05400" y="3762375"/>
              <a:ext cx="504825" cy="304800"/>
            </a:xfrm>
            <a:custGeom>
              <a:avLst/>
              <a:gdLst/>
              <a:ahLst/>
              <a:cxnLst/>
              <a:rect l="l" t="t" r="r" b="b"/>
              <a:pathLst>
                <a:path w="504825" h="304800">
                  <a:moveTo>
                    <a:pt x="0" y="50800"/>
                  </a:moveTo>
                  <a:lnTo>
                    <a:pt x="3990" y="31021"/>
                  </a:lnTo>
                  <a:lnTo>
                    <a:pt x="14874" y="14874"/>
                  </a:lnTo>
                  <a:lnTo>
                    <a:pt x="31021" y="3990"/>
                  </a:lnTo>
                  <a:lnTo>
                    <a:pt x="50800" y="0"/>
                  </a:lnTo>
                  <a:lnTo>
                    <a:pt x="454025" y="0"/>
                  </a:lnTo>
                  <a:lnTo>
                    <a:pt x="473803" y="3990"/>
                  </a:lnTo>
                  <a:lnTo>
                    <a:pt x="489950" y="14874"/>
                  </a:lnTo>
                  <a:lnTo>
                    <a:pt x="500834" y="31021"/>
                  </a:lnTo>
                  <a:lnTo>
                    <a:pt x="504825" y="50800"/>
                  </a:lnTo>
                  <a:lnTo>
                    <a:pt x="504825" y="254000"/>
                  </a:lnTo>
                  <a:lnTo>
                    <a:pt x="500834" y="273772"/>
                  </a:lnTo>
                  <a:lnTo>
                    <a:pt x="489950" y="289920"/>
                  </a:lnTo>
                  <a:lnTo>
                    <a:pt x="473803" y="300807"/>
                  </a:lnTo>
                  <a:lnTo>
                    <a:pt x="454025" y="304800"/>
                  </a:lnTo>
                  <a:lnTo>
                    <a:pt x="50800" y="304800"/>
                  </a:lnTo>
                  <a:lnTo>
                    <a:pt x="31021" y="300807"/>
                  </a:lnTo>
                  <a:lnTo>
                    <a:pt x="14874" y="289920"/>
                  </a:lnTo>
                  <a:lnTo>
                    <a:pt x="3990" y="273772"/>
                  </a:lnTo>
                  <a:lnTo>
                    <a:pt x="0" y="254000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4055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9700" y="3781425"/>
              <a:ext cx="276225" cy="2667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895850" y="3390900"/>
              <a:ext cx="923925" cy="723900"/>
            </a:xfrm>
            <a:custGeom>
              <a:avLst/>
              <a:gdLst/>
              <a:ahLst/>
              <a:cxnLst/>
              <a:rect l="l" t="t" r="r" b="b"/>
              <a:pathLst>
                <a:path w="923925" h="723900">
                  <a:moveTo>
                    <a:pt x="0" y="723900"/>
                  </a:moveTo>
                  <a:lnTo>
                    <a:pt x="923925" y="723900"/>
                  </a:lnTo>
                  <a:lnTo>
                    <a:pt x="923925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ln w="19050">
              <a:solidFill>
                <a:srgbClr val="944087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00650" y="3409950"/>
              <a:ext cx="352425" cy="35242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886075" y="4124325"/>
            <a:ext cx="590550" cy="27622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52069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409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Writer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695575" y="1993994"/>
            <a:ext cx="2818130" cy="2111375"/>
            <a:chOff x="2695575" y="1993994"/>
            <a:chExt cx="2818130" cy="2111375"/>
          </a:xfrm>
        </p:grpSpPr>
        <p:sp>
          <p:nvSpPr>
            <p:cNvPr id="22" name="object 22"/>
            <p:cNvSpPr/>
            <p:nvPr/>
          </p:nvSpPr>
          <p:spPr>
            <a:xfrm>
              <a:off x="2914650" y="3743325"/>
              <a:ext cx="504825" cy="304800"/>
            </a:xfrm>
            <a:custGeom>
              <a:avLst/>
              <a:gdLst/>
              <a:ahLst/>
              <a:cxnLst/>
              <a:rect l="l" t="t" r="r" b="b"/>
              <a:pathLst>
                <a:path w="504825" h="304800">
                  <a:moveTo>
                    <a:pt x="454025" y="0"/>
                  </a:moveTo>
                  <a:lnTo>
                    <a:pt x="50800" y="0"/>
                  </a:lnTo>
                  <a:lnTo>
                    <a:pt x="31021" y="3990"/>
                  </a:lnTo>
                  <a:lnTo>
                    <a:pt x="14874" y="14874"/>
                  </a:lnTo>
                  <a:lnTo>
                    <a:pt x="3990" y="31021"/>
                  </a:lnTo>
                  <a:lnTo>
                    <a:pt x="0" y="50800"/>
                  </a:lnTo>
                  <a:lnTo>
                    <a:pt x="0" y="254000"/>
                  </a:lnTo>
                  <a:lnTo>
                    <a:pt x="3990" y="273772"/>
                  </a:lnTo>
                  <a:lnTo>
                    <a:pt x="14874" y="289920"/>
                  </a:lnTo>
                  <a:lnTo>
                    <a:pt x="31021" y="300807"/>
                  </a:lnTo>
                  <a:lnTo>
                    <a:pt x="50800" y="304800"/>
                  </a:lnTo>
                  <a:lnTo>
                    <a:pt x="454025" y="304800"/>
                  </a:lnTo>
                  <a:lnTo>
                    <a:pt x="473803" y="300807"/>
                  </a:lnTo>
                  <a:lnTo>
                    <a:pt x="489950" y="289920"/>
                  </a:lnTo>
                  <a:lnTo>
                    <a:pt x="500834" y="273772"/>
                  </a:lnTo>
                  <a:lnTo>
                    <a:pt x="504825" y="254000"/>
                  </a:lnTo>
                  <a:lnTo>
                    <a:pt x="504825" y="50800"/>
                  </a:lnTo>
                  <a:lnTo>
                    <a:pt x="500834" y="31021"/>
                  </a:lnTo>
                  <a:lnTo>
                    <a:pt x="489950" y="14874"/>
                  </a:lnTo>
                  <a:lnTo>
                    <a:pt x="473803" y="3990"/>
                  </a:lnTo>
                  <a:lnTo>
                    <a:pt x="454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14650" y="3743325"/>
              <a:ext cx="504825" cy="304800"/>
            </a:xfrm>
            <a:custGeom>
              <a:avLst/>
              <a:gdLst/>
              <a:ahLst/>
              <a:cxnLst/>
              <a:rect l="l" t="t" r="r" b="b"/>
              <a:pathLst>
                <a:path w="504825" h="304800">
                  <a:moveTo>
                    <a:pt x="0" y="50800"/>
                  </a:moveTo>
                  <a:lnTo>
                    <a:pt x="3990" y="31021"/>
                  </a:lnTo>
                  <a:lnTo>
                    <a:pt x="14874" y="14874"/>
                  </a:lnTo>
                  <a:lnTo>
                    <a:pt x="31021" y="3990"/>
                  </a:lnTo>
                  <a:lnTo>
                    <a:pt x="50800" y="0"/>
                  </a:lnTo>
                  <a:lnTo>
                    <a:pt x="454025" y="0"/>
                  </a:lnTo>
                  <a:lnTo>
                    <a:pt x="473803" y="3990"/>
                  </a:lnTo>
                  <a:lnTo>
                    <a:pt x="489950" y="14874"/>
                  </a:lnTo>
                  <a:lnTo>
                    <a:pt x="500834" y="31021"/>
                  </a:lnTo>
                  <a:lnTo>
                    <a:pt x="504825" y="50800"/>
                  </a:lnTo>
                  <a:lnTo>
                    <a:pt x="504825" y="254000"/>
                  </a:lnTo>
                  <a:lnTo>
                    <a:pt x="500834" y="273772"/>
                  </a:lnTo>
                  <a:lnTo>
                    <a:pt x="489950" y="289920"/>
                  </a:lnTo>
                  <a:lnTo>
                    <a:pt x="473803" y="300807"/>
                  </a:lnTo>
                  <a:lnTo>
                    <a:pt x="454025" y="304800"/>
                  </a:lnTo>
                  <a:lnTo>
                    <a:pt x="50800" y="304800"/>
                  </a:lnTo>
                  <a:lnTo>
                    <a:pt x="31021" y="300807"/>
                  </a:lnTo>
                  <a:lnTo>
                    <a:pt x="14874" y="289920"/>
                  </a:lnTo>
                  <a:lnTo>
                    <a:pt x="3990" y="273772"/>
                  </a:lnTo>
                  <a:lnTo>
                    <a:pt x="0" y="254000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4055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28950" y="3762375"/>
              <a:ext cx="276225" cy="2667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05100" y="3371850"/>
              <a:ext cx="923925" cy="723900"/>
            </a:xfrm>
            <a:custGeom>
              <a:avLst/>
              <a:gdLst/>
              <a:ahLst/>
              <a:cxnLst/>
              <a:rect l="l" t="t" r="r" b="b"/>
              <a:pathLst>
                <a:path w="923925" h="723900">
                  <a:moveTo>
                    <a:pt x="0" y="723900"/>
                  </a:moveTo>
                  <a:lnTo>
                    <a:pt x="923925" y="723900"/>
                  </a:lnTo>
                  <a:lnTo>
                    <a:pt x="923925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ln w="19050">
              <a:solidFill>
                <a:srgbClr val="944087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09900" y="3400425"/>
              <a:ext cx="342900" cy="3429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22548" y="2738754"/>
              <a:ext cx="902468" cy="86639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04046" y="2776473"/>
              <a:ext cx="709150" cy="57937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87192" y="1993994"/>
              <a:ext cx="169658" cy="19360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01160" y="2224023"/>
              <a:ext cx="198755" cy="290195"/>
            </a:xfrm>
            <a:custGeom>
              <a:avLst/>
              <a:gdLst/>
              <a:ahLst/>
              <a:cxnLst/>
              <a:rect l="l" t="t" r="r" b="b"/>
              <a:pathLst>
                <a:path w="198754" h="290194">
                  <a:moveTo>
                    <a:pt x="103505" y="201295"/>
                  </a:moveTo>
                  <a:lnTo>
                    <a:pt x="102489" y="197358"/>
                  </a:lnTo>
                  <a:lnTo>
                    <a:pt x="96393" y="193802"/>
                  </a:lnTo>
                  <a:lnTo>
                    <a:pt x="92456" y="194818"/>
                  </a:lnTo>
                  <a:lnTo>
                    <a:pt x="58166" y="253606"/>
                  </a:lnTo>
                  <a:lnTo>
                    <a:pt x="58039" y="277241"/>
                  </a:lnTo>
                  <a:lnTo>
                    <a:pt x="58039" y="274066"/>
                  </a:lnTo>
                  <a:lnTo>
                    <a:pt x="58039" y="253822"/>
                  </a:lnTo>
                  <a:lnTo>
                    <a:pt x="58039" y="127"/>
                  </a:lnTo>
                  <a:lnTo>
                    <a:pt x="45339" y="127"/>
                  </a:lnTo>
                  <a:lnTo>
                    <a:pt x="45466" y="253822"/>
                  </a:lnTo>
                  <a:lnTo>
                    <a:pt x="45339" y="277241"/>
                  </a:lnTo>
                  <a:lnTo>
                    <a:pt x="45339" y="253606"/>
                  </a:lnTo>
                  <a:lnTo>
                    <a:pt x="11049" y="194818"/>
                  </a:lnTo>
                  <a:lnTo>
                    <a:pt x="7112" y="193802"/>
                  </a:lnTo>
                  <a:lnTo>
                    <a:pt x="1016" y="197358"/>
                  </a:lnTo>
                  <a:lnTo>
                    <a:pt x="0" y="201295"/>
                  </a:lnTo>
                  <a:lnTo>
                    <a:pt x="51689" y="289941"/>
                  </a:lnTo>
                  <a:lnTo>
                    <a:pt x="59105" y="277241"/>
                  </a:lnTo>
                  <a:lnTo>
                    <a:pt x="103505" y="201295"/>
                  </a:lnTo>
                  <a:close/>
                </a:path>
                <a:path w="198754" h="290194">
                  <a:moveTo>
                    <a:pt x="198755" y="88646"/>
                  </a:moveTo>
                  <a:lnTo>
                    <a:pt x="154355" y="12700"/>
                  </a:lnTo>
                  <a:lnTo>
                    <a:pt x="146939" y="0"/>
                  </a:lnTo>
                  <a:lnTo>
                    <a:pt x="95250" y="88646"/>
                  </a:lnTo>
                  <a:lnTo>
                    <a:pt x="96266" y="92583"/>
                  </a:lnTo>
                  <a:lnTo>
                    <a:pt x="102362" y="96139"/>
                  </a:lnTo>
                  <a:lnTo>
                    <a:pt x="106299" y="95123"/>
                  </a:lnTo>
                  <a:lnTo>
                    <a:pt x="140589" y="36322"/>
                  </a:lnTo>
                  <a:lnTo>
                    <a:pt x="140589" y="36144"/>
                  </a:lnTo>
                  <a:lnTo>
                    <a:pt x="147002" y="25349"/>
                  </a:lnTo>
                  <a:lnTo>
                    <a:pt x="140703" y="36144"/>
                  </a:lnTo>
                  <a:lnTo>
                    <a:pt x="140716" y="273685"/>
                  </a:lnTo>
                  <a:lnTo>
                    <a:pt x="153416" y="273685"/>
                  </a:lnTo>
                  <a:lnTo>
                    <a:pt x="153289" y="36144"/>
                  </a:lnTo>
                  <a:lnTo>
                    <a:pt x="153289" y="15875"/>
                  </a:lnTo>
                  <a:lnTo>
                    <a:pt x="153289" y="12700"/>
                  </a:lnTo>
                  <a:lnTo>
                    <a:pt x="153403" y="36322"/>
                  </a:lnTo>
                  <a:lnTo>
                    <a:pt x="187706" y="95123"/>
                  </a:lnTo>
                  <a:lnTo>
                    <a:pt x="191643" y="96139"/>
                  </a:lnTo>
                  <a:lnTo>
                    <a:pt x="197739" y="92583"/>
                  </a:lnTo>
                  <a:lnTo>
                    <a:pt x="198755" y="886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346196" y="2299017"/>
            <a:ext cx="9245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①</a:t>
            </a:r>
            <a:r>
              <a:rPr sz="900" spc="25" dirty="0">
                <a:latin typeface="Cambria Math"/>
                <a:cs typeface="Cambria Math"/>
              </a:rPr>
              <a:t> </a:t>
            </a:r>
            <a:r>
              <a:rPr sz="900" dirty="0">
                <a:latin typeface="Arial MT"/>
                <a:cs typeface="Arial MT"/>
              </a:rPr>
              <a:t>User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Question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99026" y="2026602"/>
            <a:ext cx="878205" cy="44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 MT"/>
                <a:cs typeface="Arial MT"/>
              </a:rPr>
              <a:t>User</a:t>
            </a:r>
            <a:endParaRPr sz="1200">
              <a:latin typeface="Arial MT"/>
              <a:cs typeface="Arial MT"/>
            </a:endParaRPr>
          </a:p>
          <a:p>
            <a:pPr marL="40005">
              <a:lnSpc>
                <a:spcPct val="100000"/>
              </a:lnSpc>
              <a:spcBef>
                <a:spcPts val="810"/>
              </a:spcBef>
            </a:pPr>
            <a:r>
              <a:rPr sz="900" dirty="0">
                <a:latin typeface="Cambria Math"/>
                <a:cs typeface="Cambria Math"/>
              </a:rPr>
              <a:t>⑧</a:t>
            </a:r>
            <a:r>
              <a:rPr sz="900" spc="15" dirty="0">
                <a:latin typeface="Cambria Math"/>
                <a:cs typeface="Cambria Math"/>
              </a:rPr>
              <a:t> </a:t>
            </a:r>
            <a:r>
              <a:rPr sz="900" dirty="0">
                <a:latin typeface="Arial MT"/>
                <a:cs typeface="Arial MT"/>
              </a:rPr>
              <a:t>Final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Answer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86450" y="3248025"/>
            <a:ext cx="1009650" cy="78105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8895" rIns="0" bIns="0" rtlCol="0">
            <a:spAutoFit/>
          </a:bodyPr>
          <a:lstStyle/>
          <a:p>
            <a:pPr marL="125095" marR="108585" indent="-1270" algn="ctr">
              <a:lnSpc>
                <a:spcPct val="99100"/>
              </a:lnSpc>
              <a:spcBef>
                <a:spcPts val="385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Repeat</a:t>
            </a:r>
            <a:r>
              <a:rPr sz="9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until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answering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user’s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question</a:t>
            </a:r>
            <a:r>
              <a:rPr sz="9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timeout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914400" y="1133475"/>
            <a:ext cx="3114675" cy="914400"/>
          </a:xfrm>
          <a:prstGeom prst="rect">
            <a:avLst/>
          </a:prstGeom>
          <a:solidFill>
            <a:srgbClr val="F4F8FF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075" marR="217170">
              <a:lnSpc>
                <a:spcPct val="100899"/>
              </a:lnSpc>
              <a:spcBef>
                <a:spcPts val="250"/>
              </a:spcBef>
            </a:pP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prohibit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shipping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supplier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roastery </a:t>
            </a:r>
            <a:r>
              <a:rPr sz="1800" spc="-25" dirty="0">
                <a:latin typeface="Arial MT"/>
                <a:cs typeface="Arial MT"/>
              </a:rPr>
              <a:t>2?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695950" y="571500"/>
            <a:ext cx="2838450" cy="2133600"/>
            <a:chOff x="5695950" y="571500"/>
            <a:chExt cx="2838450" cy="2133600"/>
          </a:xfrm>
        </p:grpSpPr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95975" y="723900"/>
              <a:ext cx="2638425" cy="19812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695950" y="571500"/>
              <a:ext cx="2838450" cy="561975"/>
            </a:xfrm>
            <a:custGeom>
              <a:avLst/>
              <a:gdLst/>
              <a:ahLst/>
              <a:cxnLst/>
              <a:rect l="l" t="t" r="r" b="b"/>
              <a:pathLst>
                <a:path w="2838450" h="561975">
                  <a:moveTo>
                    <a:pt x="2838450" y="0"/>
                  </a:moveTo>
                  <a:lnTo>
                    <a:pt x="0" y="0"/>
                  </a:lnTo>
                  <a:lnTo>
                    <a:pt x="0" y="561975"/>
                  </a:lnTo>
                  <a:lnTo>
                    <a:pt x="2838450" y="561975"/>
                  </a:lnTo>
                  <a:lnTo>
                    <a:pt x="2838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688"/>
            <a:ext cx="9149080" cy="57150"/>
            <a:chOff x="0" y="47688"/>
            <a:chExt cx="9149080" cy="57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3" y="52451"/>
              <a:ext cx="9139236" cy="476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763" y="52451"/>
              <a:ext cx="9139555" cy="47625"/>
            </a:xfrm>
            <a:custGeom>
              <a:avLst/>
              <a:gdLst/>
              <a:ahLst/>
              <a:cxnLst/>
              <a:rect l="l" t="t" r="r" b="b"/>
              <a:pathLst>
                <a:path w="9139555" h="47625">
                  <a:moveTo>
                    <a:pt x="9139236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39236" y="476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072118" y="704254"/>
            <a:ext cx="314325" cy="354330"/>
            <a:chOff x="4072118" y="704254"/>
            <a:chExt cx="314325" cy="3543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0663" y="704254"/>
              <a:ext cx="157090" cy="1665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72118" y="891574"/>
              <a:ext cx="314325" cy="167005"/>
            </a:xfrm>
            <a:custGeom>
              <a:avLst/>
              <a:gdLst/>
              <a:ahLst/>
              <a:cxnLst/>
              <a:rect l="l" t="t" r="r" b="b"/>
              <a:pathLst>
                <a:path w="314325" h="167005">
                  <a:moveTo>
                    <a:pt x="157089" y="0"/>
                  </a:moveTo>
                  <a:lnTo>
                    <a:pt x="108490" y="6146"/>
                  </a:lnTo>
                  <a:lnTo>
                    <a:pt x="71764" y="17756"/>
                  </a:lnTo>
                  <a:lnTo>
                    <a:pt x="32921" y="37919"/>
                  </a:lnTo>
                  <a:lnTo>
                    <a:pt x="4172" y="65041"/>
                  </a:lnTo>
                  <a:lnTo>
                    <a:pt x="0" y="83253"/>
                  </a:lnTo>
                  <a:lnTo>
                    <a:pt x="0" y="166507"/>
                  </a:lnTo>
                  <a:lnTo>
                    <a:pt x="314180" y="166507"/>
                  </a:lnTo>
                  <a:lnTo>
                    <a:pt x="314180" y="83253"/>
                  </a:lnTo>
                  <a:lnTo>
                    <a:pt x="281258" y="37041"/>
                  </a:lnTo>
                  <a:lnTo>
                    <a:pt x="242415" y="17463"/>
                  </a:lnTo>
                  <a:lnTo>
                    <a:pt x="190962" y="2861"/>
                  </a:lnTo>
                  <a:lnTo>
                    <a:pt x="1570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37379" y="789622"/>
            <a:ext cx="3429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 MT"/>
                <a:cs typeface="Arial MT"/>
              </a:rPr>
              <a:t>User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48125" y="1119124"/>
            <a:ext cx="4411980" cy="3557904"/>
            <a:chOff x="4048125" y="1119124"/>
            <a:chExt cx="4411980" cy="3557904"/>
          </a:xfrm>
        </p:grpSpPr>
        <p:sp>
          <p:nvSpPr>
            <p:cNvPr id="10" name="object 10"/>
            <p:cNvSpPr/>
            <p:nvPr/>
          </p:nvSpPr>
          <p:spPr>
            <a:xfrm>
              <a:off x="4134485" y="1119123"/>
              <a:ext cx="236854" cy="290195"/>
            </a:xfrm>
            <a:custGeom>
              <a:avLst/>
              <a:gdLst/>
              <a:ahLst/>
              <a:cxnLst/>
              <a:rect l="l" t="t" r="r" b="b"/>
              <a:pathLst>
                <a:path w="236854" h="290194">
                  <a:moveTo>
                    <a:pt x="103505" y="201295"/>
                  </a:moveTo>
                  <a:lnTo>
                    <a:pt x="102489" y="197358"/>
                  </a:lnTo>
                  <a:lnTo>
                    <a:pt x="96393" y="193802"/>
                  </a:lnTo>
                  <a:lnTo>
                    <a:pt x="92456" y="194818"/>
                  </a:lnTo>
                  <a:lnTo>
                    <a:pt x="58153" y="253631"/>
                  </a:lnTo>
                  <a:lnTo>
                    <a:pt x="58039" y="277241"/>
                  </a:lnTo>
                  <a:lnTo>
                    <a:pt x="58039" y="274066"/>
                  </a:lnTo>
                  <a:lnTo>
                    <a:pt x="58039" y="253809"/>
                  </a:lnTo>
                  <a:lnTo>
                    <a:pt x="58166" y="127"/>
                  </a:lnTo>
                  <a:lnTo>
                    <a:pt x="45466" y="127"/>
                  </a:lnTo>
                  <a:lnTo>
                    <a:pt x="45453" y="253809"/>
                  </a:lnTo>
                  <a:lnTo>
                    <a:pt x="45339" y="277241"/>
                  </a:lnTo>
                  <a:lnTo>
                    <a:pt x="45339" y="253631"/>
                  </a:lnTo>
                  <a:lnTo>
                    <a:pt x="11049" y="194818"/>
                  </a:lnTo>
                  <a:lnTo>
                    <a:pt x="7112" y="193802"/>
                  </a:lnTo>
                  <a:lnTo>
                    <a:pt x="1016" y="197358"/>
                  </a:lnTo>
                  <a:lnTo>
                    <a:pt x="0" y="201295"/>
                  </a:lnTo>
                  <a:lnTo>
                    <a:pt x="51689" y="289941"/>
                  </a:lnTo>
                  <a:lnTo>
                    <a:pt x="59105" y="277241"/>
                  </a:lnTo>
                  <a:lnTo>
                    <a:pt x="103505" y="201295"/>
                  </a:lnTo>
                  <a:close/>
                </a:path>
                <a:path w="236854" h="290194">
                  <a:moveTo>
                    <a:pt x="236855" y="88646"/>
                  </a:moveTo>
                  <a:lnTo>
                    <a:pt x="192455" y="12700"/>
                  </a:lnTo>
                  <a:lnTo>
                    <a:pt x="185039" y="0"/>
                  </a:lnTo>
                  <a:lnTo>
                    <a:pt x="133350" y="88646"/>
                  </a:lnTo>
                  <a:lnTo>
                    <a:pt x="134366" y="92583"/>
                  </a:lnTo>
                  <a:lnTo>
                    <a:pt x="140462" y="96139"/>
                  </a:lnTo>
                  <a:lnTo>
                    <a:pt x="144399" y="95123"/>
                  </a:lnTo>
                  <a:lnTo>
                    <a:pt x="178689" y="36322"/>
                  </a:lnTo>
                  <a:lnTo>
                    <a:pt x="178689" y="36144"/>
                  </a:lnTo>
                  <a:lnTo>
                    <a:pt x="185102" y="25349"/>
                  </a:lnTo>
                  <a:lnTo>
                    <a:pt x="178803" y="36144"/>
                  </a:lnTo>
                  <a:lnTo>
                    <a:pt x="178816" y="273685"/>
                  </a:lnTo>
                  <a:lnTo>
                    <a:pt x="191516" y="273685"/>
                  </a:lnTo>
                  <a:lnTo>
                    <a:pt x="191389" y="36144"/>
                  </a:lnTo>
                  <a:lnTo>
                    <a:pt x="191389" y="15875"/>
                  </a:lnTo>
                  <a:lnTo>
                    <a:pt x="191389" y="12700"/>
                  </a:lnTo>
                  <a:lnTo>
                    <a:pt x="191503" y="36322"/>
                  </a:lnTo>
                  <a:lnTo>
                    <a:pt x="225806" y="95123"/>
                  </a:lnTo>
                  <a:lnTo>
                    <a:pt x="229743" y="96139"/>
                  </a:lnTo>
                  <a:lnTo>
                    <a:pt x="235839" y="92583"/>
                  </a:lnTo>
                  <a:lnTo>
                    <a:pt x="236855" y="886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9001" y="1819275"/>
              <a:ext cx="3651070" cy="14058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8125" y="2543175"/>
              <a:ext cx="3257550" cy="2133600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4848225" y="571500"/>
            <a:ext cx="2705100" cy="619125"/>
          </a:xfrm>
          <a:custGeom>
            <a:avLst/>
            <a:gdLst/>
            <a:ahLst/>
            <a:cxnLst/>
            <a:rect l="l" t="t" r="r" b="b"/>
            <a:pathLst>
              <a:path w="2705100" h="619125">
                <a:moveTo>
                  <a:pt x="2601849" y="0"/>
                </a:moveTo>
                <a:lnTo>
                  <a:pt x="103250" y="0"/>
                </a:lnTo>
                <a:lnTo>
                  <a:pt x="63061" y="8114"/>
                </a:lnTo>
                <a:lnTo>
                  <a:pt x="30241" y="30241"/>
                </a:lnTo>
                <a:lnTo>
                  <a:pt x="8114" y="63061"/>
                </a:lnTo>
                <a:lnTo>
                  <a:pt x="0" y="103250"/>
                </a:lnTo>
                <a:lnTo>
                  <a:pt x="0" y="515874"/>
                </a:lnTo>
                <a:lnTo>
                  <a:pt x="8114" y="556063"/>
                </a:lnTo>
                <a:lnTo>
                  <a:pt x="30241" y="588883"/>
                </a:lnTo>
                <a:lnTo>
                  <a:pt x="63061" y="611010"/>
                </a:lnTo>
                <a:lnTo>
                  <a:pt x="103250" y="619125"/>
                </a:lnTo>
                <a:lnTo>
                  <a:pt x="2601849" y="619125"/>
                </a:lnTo>
                <a:lnTo>
                  <a:pt x="2642038" y="611010"/>
                </a:lnTo>
                <a:lnTo>
                  <a:pt x="2674858" y="588883"/>
                </a:lnTo>
                <a:lnTo>
                  <a:pt x="2696985" y="556063"/>
                </a:lnTo>
                <a:lnTo>
                  <a:pt x="2705100" y="515874"/>
                </a:lnTo>
                <a:lnTo>
                  <a:pt x="2705100" y="103250"/>
                </a:lnTo>
                <a:lnTo>
                  <a:pt x="2696985" y="63061"/>
                </a:lnTo>
                <a:lnTo>
                  <a:pt x="2674858" y="30241"/>
                </a:lnTo>
                <a:lnTo>
                  <a:pt x="2642038" y="8114"/>
                </a:lnTo>
                <a:lnTo>
                  <a:pt x="26018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07864" y="700341"/>
            <a:ext cx="2178050" cy="381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2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prohibit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shipping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from supplier 1</a:t>
            </a: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roastery</a:t>
            </a:r>
            <a:r>
              <a:rPr sz="12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6849" y="1514097"/>
            <a:ext cx="3188970" cy="2477135"/>
            <a:chOff x="656849" y="1514097"/>
            <a:chExt cx="3188970" cy="247713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6849" y="1514097"/>
              <a:ext cx="3188554" cy="21495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099" y="3048000"/>
              <a:ext cx="3009900" cy="94297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94359" y="1261681"/>
            <a:ext cx="7924800" cy="113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(Writer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nested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Commander,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Triggered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by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User)</a:t>
            </a:r>
            <a:endParaRPr sz="1200">
              <a:latin typeface="Arial MT"/>
              <a:cs typeface="Arial MT"/>
            </a:endParaRPr>
          </a:p>
          <a:p>
            <a:pPr marL="4189729">
              <a:lnSpc>
                <a:spcPct val="100000"/>
              </a:lnSpc>
              <a:spcBef>
                <a:spcPts val="1035"/>
              </a:spcBef>
            </a:pPr>
            <a:r>
              <a:rPr sz="1200" spc="-10" dirty="0">
                <a:latin typeface="Arial MT"/>
                <a:cs typeface="Arial MT"/>
              </a:rPr>
              <a:t>(Safeguard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nested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Commander,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Triggered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by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Writer)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200">
              <a:latin typeface="Arial MT"/>
              <a:cs typeface="Arial MT"/>
            </a:endParaRPr>
          </a:p>
          <a:p>
            <a:pPr marR="479425" algn="ctr">
              <a:lnSpc>
                <a:spcPct val="100000"/>
              </a:lnSpc>
            </a:pPr>
            <a:r>
              <a:rPr sz="1200" spc="-10" dirty="0">
                <a:latin typeface="Arial MT"/>
                <a:cs typeface="Arial MT"/>
              </a:rPr>
              <a:t>Commander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27551" y="1447800"/>
            <a:ext cx="555625" cy="678180"/>
            <a:chOff x="4027551" y="1447800"/>
            <a:chExt cx="555625" cy="678180"/>
          </a:xfrm>
        </p:grpSpPr>
        <p:sp>
          <p:nvSpPr>
            <p:cNvPr id="20" name="object 20"/>
            <p:cNvSpPr/>
            <p:nvPr/>
          </p:nvSpPr>
          <p:spPr>
            <a:xfrm>
              <a:off x="4033901" y="1795525"/>
              <a:ext cx="542925" cy="323850"/>
            </a:xfrm>
            <a:custGeom>
              <a:avLst/>
              <a:gdLst/>
              <a:ahLst/>
              <a:cxnLst/>
              <a:rect l="l" t="t" r="r" b="b"/>
              <a:pathLst>
                <a:path w="542925" h="323850">
                  <a:moveTo>
                    <a:pt x="488823" y="0"/>
                  </a:moveTo>
                  <a:lnTo>
                    <a:pt x="53975" y="0"/>
                  </a:lnTo>
                  <a:lnTo>
                    <a:pt x="32950" y="4236"/>
                  </a:lnTo>
                  <a:lnTo>
                    <a:pt x="15795" y="15795"/>
                  </a:lnTo>
                  <a:lnTo>
                    <a:pt x="4236" y="32950"/>
                  </a:lnTo>
                  <a:lnTo>
                    <a:pt x="0" y="53975"/>
                  </a:lnTo>
                  <a:lnTo>
                    <a:pt x="0" y="269748"/>
                  </a:lnTo>
                  <a:lnTo>
                    <a:pt x="4236" y="290792"/>
                  </a:lnTo>
                  <a:lnTo>
                    <a:pt x="15795" y="307990"/>
                  </a:lnTo>
                  <a:lnTo>
                    <a:pt x="32950" y="319593"/>
                  </a:lnTo>
                  <a:lnTo>
                    <a:pt x="53975" y="323850"/>
                  </a:lnTo>
                  <a:lnTo>
                    <a:pt x="488823" y="323850"/>
                  </a:lnTo>
                  <a:lnTo>
                    <a:pt x="509867" y="319593"/>
                  </a:lnTo>
                  <a:lnTo>
                    <a:pt x="527065" y="307990"/>
                  </a:lnTo>
                  <a:lnTo>
                    <a:pt x="538668" y="290792"/>
                  </a:lnTo>
                  <a:lnTo>
                    <a:pt x="542925" y="269748"/>
                  </a:lnTo>
                  <a:lnTo>
                    <a:pt x="542925" y="53975"/>
                  </a:lnTo>
                  <a:lnTo>
                    <a:pt x="538668" y="32950"/>
                  </a:lnTo>
                  <a:lnTo>
                    <a:pt x="527065" y="15795"/>
                  </a:lnTo>
                  <a:lnTo>
                    <a:pt x="509867" y="4236"/>
                  </a:lnTo>
                  <a:lnTo>
                    <a:pt x="488823" y="0"/>
                  </a:lnTo>
                  <a:close/>
                </a:path>
              </a:pathLst>
            </a:custGeom>
            <a:solidFill>
              <a:srgbClr val="FAD2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33901" y="1795525"/>
              <a:ext cx="542925" cy="323850"/>
            </a:xfrm>
            <a:custGeom>
              <a:avLst/>
              <a:gdLst/>
              <a:ahLst/>
              <a:cxnLst/>
              <a:rect l="l" t="t" r="r" b="b"/>
              <a:pathLst>
                <a:path w="542925" h="323850">
                  <a:moveTo>
                    <a:pt x="0" y="53975"/>
                  </a:moveTo>
                  <a:lnTo>
                    <a:pt x="4236" y="32950"/>
                  </a:lnTo>
                  <a:lnTo>
                    <a:pt x="15795" y="15795"/>
                  </a:lnTo>
                  <a:lnTo>
                    <a:pt x="32950" y="4236"/>
                  </a:lnTo>
                  <a:lnTo>
                    <a:pt x="53975" y="0"/>
                  </a:lnTo>
                  <a:lnTo>
                    <a:pt x="488823" y="0"/>
                  </a:lnTo>
                  <a:lnTo>
                    <a:pt x="509867" y="4236"/>
                  </a:lnTo>
                  <a:lnTo>
                    <a:pt x="527065" y="15795"/>
                  </a:lnTo>
                  <a:lnTo>
                    <a:pt x="538668" y="32950"/>
                  </a:lnTo>
                  <a:lnTo>
                    <a:pt x="542925" y="53975"/>
                  </a:lnTo>
                  <a:lnTo>
                    <a:pt x="542925" y="269748"/>
                  </a:lnTo>
                  <a:lnTo>
                    <a:pt x="538668" y="290792"/>
                  </a:lnTo>
                  <a:lnTo>
                    <a:pt x="527065" y="307990"/>
                  </a:lnTo>
                  <a:lnTo>
                    <a:pt x="509867" y="319593"/>
                  </a:lnTo>
                  <a:lnTo>
                    <a:pt x="488823" y="323850"/>
                  </a:lnTo>
                  <a:lnTo>
                    <a:pt x="53975" y="323850"/>
                  </a:lnTo>
                  <a:lnTo>
                    <a:pt x="32950" y="319593"/>
                  </a:lnTo>
                  <a:lnTo>
                    <a:pt x="15795" y="307990"/>
                  </a:lnTo>
                  <a:lnTo>
                    <a:pt x="4236" y="290792"/>
                  </a:lnTo>
                  <a:lnTo>
                    <a:pt x="0" y="269748"/>
                  </a:lnTo>
                  <a:lnTo>
                    <a:pt x="0" y="53975"/>
                  </a:lnTo>
                  <a:close/>
                </a:path>
              </a:pathLst>
            </a:custGeom>
            <a:ln w="12700">
              <a:solidFill>
                <a:srgbClr val="4055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91000" y="1819275"/>
              <a:ext cx="266700" cy="2667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24325" y="1447800"/>
              <a:ext cx="361950" cy="3619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dirty="0"/>
              <a:t>Agentic</a:t>
            </a:r>
            <a:r>
              <a:rPr spc="-50" dirty="0"/>
              <a:t> </a:t>
            </a:r>
            <a:r>
              <a:rPr spc="-1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572" y="1015999"/>
            <a:ext cx="3799204" cy="2806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6400" marR="5080" indent="-394335">
              <a:lnSpc>
                <a:spcPct val="101200"/>
              </a:lnSpc>
              <a:spcBef>
                <a:spcPts val="90"/>
              </a:spcBef>
              <a:buChar char="▪"/>
              <a:tabLst>
                <a:tab pos="406400" algn="l"/>
              </a:tabLst>
            </a:pP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Handle</a:t>
            </a:r>
            <a:r>
              <a:rPr sz="26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more</a:t>
            </a:r>
            <a:r>
              <a:rPr sz="26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complex </a:t>
            </a: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tasks</a:t>
            </a:r>
            <a:r>
              <a:rPr sz="26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/</a:t>
            </a:r>
            <a:r>
              <a:rPr sz="26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Improve</a:t>
            </a:r>
            <a:r>
              <a:rPr sz="26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response quality</a:t>
            </a:r>
            <a:endParaRPr sz="2600">
              <a:latin typeface="Calibri"/>
              <a:cs typeface="Calibri"/>
            </a:endParaRPr>
          </a:p>
          <a:p>
            <a:pPr marL="864235" marR="306070" lvl="1" indent="-381635">
              <a:lnSpc>
                <a:spcPts val="2860"/>
              </a:lnSpc>
              <a:spcBef>
                <a:spcPts val="425"/>
              </a:spcBef>
              <a:buClr>
                <a:srgbClr val="333399"/>
              </a:buClr>
              <a:buSzPct val="108333"/>
              <a:buFont typeface="Courier New"/>
              <a:buChar char="o"/>
              <a:tabLst>
                <a:tab pos="864235" algn="l"/>
              </a:tabLst>
            </a:pPr>
            <a:r>
              <a:rPr sz="2400" dirty="0">
                <a:latin typeface="Calibri"/>
                <a:cs typeface="Calibri"/>
              </a:rPr>
              <a:t>Improve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natural iteration</a:t>
            </a:r>
            <a:endParaRPr sz="2400">
              <a:latin typeface="Calibri"/>
              <a:cs typeface="Calibri"/>
            </a:endParaRPr>
          </a:p>
          <a:p>
            <a:pPr marL="863600" lvl="1" indent="-381000">
              <a:lnSpc>
                <a:spcPct val="100000"/>
              </a:lnSpc>
              <a:spcBef>
                <a:spcPts val="250"/>
              </a:spcBef>
              <a:buClr>
                <a:srgbClr val="333399"/>
              </a:buClr>
              <a:buFont typeface="Courier New"/>
              <a:buChar char="o"/>
              <a:tabLst>
                <a:tab pos="863600" algn="l"/>
              </a:tabLst>
            </a:pP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conquer</a:t>
            </a:r>
            <a:endParaRPr sz="2400">
              <a:latin typeface="Calibri"/>
              <a:cs typeface="Calibri"/>
            </a:endParaRPr>
          </a:p>
          <a:p>
            <a:pPr marL="863600" lvl="1" indent="-381000">
              <a:lnSpc>
                <a:spcPct val="100000"/>
              </a:lnSpc>
              <a:spcBef>
                <a:spcPts val="280"/>
              </a:spcBef>
              <a:buClr>
                <a:srgbClr val="333399"/>
              </a:buClr>
              <a:buFont typeface="Courier New"/>
              <a:buChar char="o"/>
              <a:tabLst>
                <a:tab pos="863600" algn="l"/>
              </a:tabLst>
            </a:pPr>
            <a:r>
              <a:rPr sz="2400" dirty="0">
                <a:latin typeface="Calibri"/>
                <a:cs typeface="Calibri"/>
              </a:rPr>
              <a:t>Grounding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validation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0768" y="1040193"/>
            <a:ext cx="4302984" cy="31530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dirty="0"/>
              <a:t>Agentic</a:t>
            </a:r>
            <a:r>
              <a:rPr spc="-50" dirty="0"/>
              <a:t> </a:t>
            </a:r>
            <a:r>
              <a:rPr spc="-1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572" y="1015999"/>
            <a:ext cx="3540760" cy="277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0" marR="459740" indent="-394335">
              <a:lnSpc>
                <a:spcPct val="101099"/>
              </a:lnSpc>
              <a:spcBef>
                <a:spcPts val="95"/>
              </a:spcBef>
              <a:buChar char="▪"/>
              <a:tabLst>
                <a:tab pos="406400" algn="l"/>
              </a:tabLst>
            </a:pP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Easy</a:t>
            </a:r>
            <a:r>
              <a:rPr sz="26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6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understand, </a:t>
            </a: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maintain,</a:t>
            </a:r>
            <a:r>
              <a:rPr sz="26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extend</a:t>
            </a:r>
            <a:endParaRPr sz="2600">
              <a:latin typeface="Calibri"/>
              <a:cs typeface="Calibri"/>
            </a:endParaRPr>
          </a:p>
          <a:p>
            <a:pPr marL="864235" lvl="1" indent="-381635">
              <a:lnSpc>
                <a:spcPct val="100000"/>
              </a:lnSpc>
              <a:spcBef>
                <a:spcPts val="110"/>
              </a:spcBef>
              <a:buClr>
                <a:srgbClr val="333399"/>
              </a:buClr>
              <a:buSzPct val="108333"/>
              <a:buFont typeface="Courier New"/>
              <a:buChar char="o"/>
              <a:tabLst>
                <a:tab pos="864235" algn="l"/>
              </a:tabLst>
            </a:pPr>
            <a:r>
              <a:rPr sz="2400" dirty="0">
                <a:latin typeface="Calibri"/>
                <a:cs typeface="Calibri"/>
              </a:rPr>
              <a:t>Modular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composition</a:t>
            </a:r>
            <a:endParaRPr sz="2400">
              <a:latin typeface="Calibri"/>
              <a:cs typeface="Calibri"/>
            </a:endParaRPr>
          </a:p>
          <a:p>
            <a:pPr marL="864235" marR="804545" lvl="1" indent="-381635">
              <a:lnSpc>
                <a:spcPts val="2850"/>
              </a:lnSpc>
              <a:spcBef>
                <a:spcPts val="430"/>
              </a:spcBef>
              <a:buClr>
                <a:srgbClr val="333399"/>
              </a:buClr>
              <a:buSzPct val="108333"/>
              <a:buFont typeface="Courier New"/>
              <a:buChar char="o"/>
              <a:tabLst>
                <a:tab pos="864235" algn="l"/>
              </a:tabLst>
            </a:pPr>
            <a:r>
              <a:rPr sz="2400" dirty="0">
                <a:latin typeface="Calibri"/>
                <a:cs typeface="Calibri"/>
              </a:rPr>
              <a:t>Natural</a:t>
            </a:r>
            <a:r>
              <a:rPr sz="2400" spc="-20" dirty="0">
                <a:latin typeface="Calibri"/>
                <a:cs typeface="Calibri"/>
              </a:rPr>
              <a:t> human </a:t>
            </a:r>
            <a:r>
              <a:rPr sz="2400" spc="-10" dirty="0">
                <a:latin typeface="Calibri"/>
                <a:cs typeface="Calibri"/>
              </a:rPr>
              <a:t>participation</a:t>
            </a:r>
            <a:endParaRPr sz="2400">
              <a:latin typeface="Calibri"/>
              <a:cs typeface="Calibri"/>
            </a:endParaRPr>
          </a:p>
          <a:p>
            <a:pPr marL="864235" lvl="1" indent="-381635">
              <a:lnSpc>
                <a:spcPts val="3110"/>
              </a:lnSpc>
              <a:buClr>
                <a:srgbClr val="333399"/>
              </a:buClr>
              <a:buSzPct val="108333"/>
              <a:buFont typeface="Courier New"/>
              <a:buChar char="o"/>
              <a:tabLst>
                <a:tab pos="864235" algn="l"/>
              </a:tabLst>
            </a:pPr>
            <a:r>
              <a:rPr sz="2400" dirty="0">
                <a:latin typeface="Calibri"/>
                <a:cs typeface="Calibri"/>
              </a:rPr>
              <a:t>Fast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creative</a:t>
            </a:r>
            <a:endParaRPr sz="2400">
              <a:latin typeface="Calibri"/>
              <a:cs typeface="Calibri"/>
            </a:endParaRPr>
          </a:p>
          <a:p>
            <a:pPr marL="864235">
              <a:lnSpc>
                <a:spcPct val="100000"/>
              </a:lnSpc>
              <a:spcBef>
                <a:spcPts val="15"/>
              </a:spcBef>
            </a:pPr>
            <a:r>
              <a:rPr sz="2400" spc="-10" dirty="0">
                <a:latin typeface="Calibri"/>
                <a:cs typeface="Calibri"/>
              </a:rPr>
              <a:t>experimentation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6499" y="1124865"/>
            <a:ext cx="3531943" cy="21577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9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105"/>
              </a:spcBef>
            </a:pPr>
            <a:r>
              <a:rPr dirty="0"/>
              <a:t>Agentic</a:t>
            </a:r>
            <a:r>
              <a:rPr spc="-55" dirty="0"/>
              <a:t> </a:t>
            </a:r>
            <a:r>
              <a:rPr dirty="0"/>
              <a:t>AI</a:t>
            </a:r>
            <a:r>
              <a:rPr spc="-30" dirty="0"/>
              <a:t> </a:t>
            </a:r>
            <a:r>
              <a:rPr dirty="0"/>
              <a:t>Framework</a:t>
            </a:r>
            <a:r>
              <a:rPr spc="-80" dirty="0"/>
              <a:t> </a:t>
            </a:r>
            <a:r>
              <a:rPr spc="-10" dirty="0"/>
              <a:t>Desiderata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10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72745" indent="-342900">
              <a:lnSpc>
                <a:spcPct val="100000"/>
              </a:lnSpc>
              <a:spcBef>
                <a:spcPts val="475"/>
              </a:spcBef>
              <a:buSzPct val="65454"/>
              <a:buChar char="▪"/>
              <a:tabLst>
                <a:tab pos="373380" algn="l"/>
              </a:tabLst>
            </a:pPr>
            <a:r>
              <a:rPr dirty="0"/>
              <a:t>Intuitive</a:t>
            </a:r>
            <a:r>
              <a:rPr spc="85" dirty="0"/>
              <a:t> </a:t>
            </a:r>
            <a:r>
              <a:rPr dirty="0"/>
              <a:t>unified</a:t>
            </a:r>
            <a:r>
              <a:rPr spc="105" dirty="0"/>
              <a:t> </a:t>
            </a:r>
            <a:r>
              <a:rPr dirty="0"/>
              <a:t>agentic</a:t>
            </a:r>
            <a:r>
              <a:rPr spc="120" dirty="0"/>
              <a:t> </a:t>
            </a:r>
            <a:r>
              <a:rPr spc="-10" dirty="0"/>
              <a:t>abstraction</a:t>
            </a:r>
          </a:p>
          <a:p>
            <a:pPr marL="372745" indent="-342900">
              <a:lnSpc>
                <a:spcPct val="100000"/>
              </a:lnSpc>
              <a:spcBef>
                <a:spcPts val="380"/>
              </a:spcBef>
              <a:buSzPct val="65454"/>
              <a:buChar char="▪"/>
              <a:tabLst>
                <a:tab pos="373380" algn="l"/>
              </a:tabLst>
            </a:pPr>
            <a:r>
              <a:rPr dirty="0"/>
              <a:t>Flexible</a:t>
            </a:r>
            <a:r>
              <a:rPr spc="150" dirty="0"/>
              <a:t> </a:t>
            </a:r>
            <a:r>
              <a:rPr dirty="0"/>
              <a:t>multi-agent</a:t>
            </a:r>
            <a:r>
              <a:rPr spc="150" dirty="0"/>
              <a:t> </a:t>
            </a:r>
            <a:r>
              <a:rPr spc="-10" dirty="0"/>
              <a:t>orchestration</a:t>
            </a:r>
          </a:p>
          <a:p>
            <a:pPr marL="372745" indent="-342900">
              <a:lnSpc>
                <a:spcPct val="100000"/>
              </a:lnSpc>
              <a:spcBef>
                <a:spcPts val="385"/>
              </a:spcBef>
              <a:buSzPct val="65454"/>
              <a:buChar char="▪"/>
              <a:tabLst>
                <a:tab pos="373380" algn="l"/>
              </a:tabLst>
            </a:pPr>
            <a:r>
              <a:rPr dirty="0"/>
              <a:t>Effective</a:t>
            </a:r>
            <a:r>
              <a:rPr spc="105" dirty="0"/>
              <a:t> </a:t>
            </a:r>
            <a:r>
              <a:rPr dirty="0"/>
              <a:t>implementation</a:t>
            </a:r>
            <a:r>
              <a:rPr spc="15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dirty="0"/>
              <a:t>agentic</a:t>
            </a:r>
            <a:r>
              <a:rPr spc="95" dirty="0"/>
              <a:t> </a:t>
            </a:r>
            <a:r>
              <a:rPr dirty="0"/>
              <a:t>design</a:t>
            </a:r>
            <a:r>
              <a:rPr spc="100" dirty="0"/>
              <a:t> </a:t>
            </a:r>
            <a:r>
              <a:rPr spc="-10" dirty="0"/>
              <a:t>patterns</a:t>
            </a:r>
          </a:p>
          <a:p>
            <a:pPr marL="372745" indent="-342900">
              <a:lnSpc>
                <a:spcPct val="100000"/>
              </a:lnSpc>
              <a:spcBef>
                <a:spcPts val="305"/>
              </a:spcBef>
              <a:buSzPct val="65454"/>
              <a:buChar char="▪"/>
              <a:tabLst>
                <a:tab pos="373380" algn="l"/>
              </a:tabLst>
            </a:pPr>
            <a:r>
              <a:rPr dirty="0"/>
              <a:t>Support</a:t>
            </a:r>
            <a:r>
              <a:rPr spc="120" dirty="0"/>
              <a:t> </a:t>
            </a:r>
            <a:r>
              <a:rPr dirty="0"/>
              <a:t>diverse</a:t>
            </a:r>
            <a:r>
              <a:rPr spc="140" dirty="0"/>
              <a:t> </a:t>
            </a:r>
            <a:r>
              <a:rPr dirty="0"/>
              <a:t>application</a:t>
            </a:r>
            <a:r>
              <a:rPr spc="120" dirty="0"/>
              <a:t> </a:t>
            </a:r>
            <a:r>
              <a:rPr spc="-10" dirty="0"/>
              <a:t>needs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876363"/>
            <a:ext cx="9149080" cy="57150"/>
            <a:chOff x="-4762" y="876363"/>
            <a:chExt cx="9149080" cy="57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81125"/>
              <a:ext cx="9139236" cy="476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881125"/>
              <a:ext cx="9139555" cy="47625"/>
            </a:xfrm>
            <a:custGeom>
              <a:avLst/>
              <a:gdLst/>
              <a:ahLst/>
              <a:cxnLst/>
              <a:rect l="l" t="t" r="r" b="b"/>
              <a:pathLst>
                <a:path w="9139555" h="47625">
                  <a:moveTo>
                    <a:pt x="0" y="47625"/>
                  </a:moveTo>
                  <a:lnTo>
                    <a:pt x="9139236" y="47625"/>
                  </a:lnTo>
                  <a:lnTo>
                    <a:pt x="9139236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686430" y="113093"/>
            <a:ext cx="3678554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latin typeface="Calibri"/>
                <a:cs typeface="Calibri"/>
              </a:rPr>
              <a:t>Agentic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Abstraction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4760" y="987742"/>
            <a:ext cx="66344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Unify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compound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14400" y="2647950"/>
            <a:ext cx="1514475" cy="933450"/>
            <a:chOff x="914400" y="2647950"/>
            <a:chExt cx="1514475" cy="9334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2647950"/>
              <a:ext cx="904875" cy="9334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4025" y="2733675"/>
              <a:ext cx="704850" cy="7048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12014" y="3890790"/>
            <a:ext cx="540297" cy="56633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80695" y="3897171"/>
            <a:ext cx="562391" cy="57801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26940" y="3891264"/>
            <a:ext cx="517141" cy="527009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438775" y="3867150"/>
            <a:ext cx="2171700" cy="676275"/>
            <a:chOff x="5438775" y="3867150"/>
            <a:chExt cx="2171700" cy="67627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38775" y="3894217"/>
              <a:ext cx="666750" cy="6206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34100" y="3867150"/>
              <a:ext cx="1476375" cy="676275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94303" y="3930711"/>
            <a:ext cx="525991" cy="49713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33342" y="3857625"/>
            <a:ext cx="397371" cy="59917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3900" y="3857625"/>
            <a:ext cx="571500" cy="58102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629280" y="2815970"/>
            <a:ext cx="565785" cy="51092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210175" y="2771775"/>
            <a:ext cx="1209675" cy="70485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76625" y="2771775"/>
            <a:ext cx="523875" cy="6477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86250" y="2781300"/>
            <a:ext cx="771525" cy="67627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553200" y="2771775"/>
            <a:ext cx="1362075" cy="676275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5090360" y="1524000"/>
            <a:ext cx="1729739" cy="838200"/>
            <a:chOff x="5090360" y="1524000"/>
            <a:chExt cx="1729739" cy="838200"/>
          </a:xfrm>
        </p:grpSpPr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90360" y="1562100"/>
              <a:ext cx="796390" cy="8001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76925" y="1524000"/>
              <a:ext cx="942975" cy="800100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208428" y="1524000"/>
            <a:ext cx="770613" cy="806311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2390775" y="1504950"/>
            <a:ext cx="1724025" cy="866775"/>
            <a:chOff x="2390775" y="1504950"/>
            <a:chExt cx="1724025" cy="866775"/>
          </a:xfrm>
        </p:grpSpPr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57550" y="1514475"/>
              <a:ext cx="857250" cy="85703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90775" y="1504950"/>
              <a:ext cx="904875" cy="847725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715250" y="3829050"/>
            <a:ext cx="704850" cy="676275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11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5821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Multi-</a:t>
            </a:r>
            <a:r>
              <a:rPr dirty="0"/>
              <a:t>Agent</a:t>
            </a:r>
            <a:r>
              <a:rPr spc="-50" dirty="0"/>
              <a:t> </a:t>
            </a:r>
            <a:r>
              <a:rPr spc="-10" dirty="0"/>
              <a:t>Orchestration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572" y="978026"/>
            <a:ext cx="4944428" cy="264816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06400" indent="-393700">
              <a:lnSpc>
                <a:spcPct val="100000"/>
              </a:lnSpc>
              <a:spcBef>
                <a:spcPts val="430"/>
              </a:spcBef>
              <a:buChar char="▪"/>
              <a:tabLst>
                <a:tab pos="406400" algn="l"/>
              </a:tabLst>
            </a:pP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Static/dynamic</a:t>
            </a:r>
            <a:endParaRPr sz="260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334"/>
              </a:spcBef>
              <a:buChar char="▪"/>
              <a:tabLst>
                <a:tab pos="406400" algn="l"/>
              </a:tabLst>
            </a:pPr>
            <a:r>
              <a:rPr sz="2600" spc="-10" smtClean="0">
                <a:solidFill>
                  <a:srgbClr val="333399"/>
                </a:solidFill>
                <a:latin typeface="Calibri"/>
                <a:cs typeface="Calibri"/>
              </a:rPr>
              <a:t>N</a:t>
            </a:r>
            <a:r>
              <a:rPr lang="en-US" sz="2600" spc="-10" dirty="0" err="1" smtClean="0">
                <a:solidFill>
                  <a:srgbClr val="333399"/>
                </a:solidFill>
                <a:latin typeface="Calibri"/>
                <a:cs typeface="Calibri"/>
              </a:rPr>
              <a:t>atural</a:t>
            </a:r>
            <a:r>
              <a:rPr sz="2600" spc="-10" smtClean="0">
                <a:solidFill>
                  <a:srgbClr val="333399"/>
                </a:solidFill>
                <a:latin typeface="Calibri"/>
                <a:cs typeface="Calibri"/>
              </a:rPr>
              <a:t>L</a:t>
            </a:r>
            <a:r>
              <a:rPr lang="en-US" sz="2600" spc="-10" dirty="0" err="1" smtClean="0">
                <a:solidFill>
                  <a:srgbClr val="333399"/>
                </a:solidFill>
                <a:latin typeface="Calibri"/>
                <a:cs typeface="Calibri"/>
              </a:rPr>
              <a:t>ang</a:t>
            </a:r>
            <a:r>
              <a:rPr sz="2600" spc="-10" smtClean="0">
                <a:solidFill>
                  <a:srgbClr val="333399"/>
                </a:solidFill>
                <a:latin typeface="Calibri"/>
                <a:cs typeface="Calibri"/>
              </a:rPr>
              <a:t>/P</a:t>
            </a:r>
            <a:r>
              <a:rPr lang="en-US" sz="2600" spc="-10" dirty="0" err="1" smtClean="0">
                <a:solidFill>
                  <a:srgbClr val="333399"/>
                </a:solidFill>
                <a:latin typeface="Calibri"/>
                <a:cs typeface="Calibri"/>
              </a:rPr>
              <a:t>rogramming</a:t>
            </a:r>
            <a:r>
              <a:rPr sz="2600" spc="-10" smtClean="0">
                <a:solidFill>
                  <a:srgbClr val="333399"/>
                </a:solidFill>
                <a:latin typeface="Calibri"/>
                <a:cs typeface="Calibri"/>
              </a:rPr>
              <a:t>L</a:t>
            </a:r>
            <a:r>
              <a:rPr lang="en-US" sz="2600" spc="-10" dirty="0" err="1" smtClean="0">
                <a:solidFill>
                  <a:srgbClr val="333399"/>
                </a:solidFill>
                <a:latin typeface="Calibri"/>
                <a:cs typeface="Calibri"/>
              </a:rPr>
              <a:t>ang</a:t>
            </a:r>
            <a:endParaRPr sz="260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335"/>
              </a:spcBef>
              <a:buChar char="▪"/>
              <a:tabLst>
                <a:tab pos="406400" algn="l"/>
              </a:tabLst>
            </a:pP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Context</a:t>
            </a:r>
            <a:r>
              <a:rPr sz="2600" spc="-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sharing/isolation</a:t>
            </a:r>
            <a:endParaRPr sz="260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265"/>
              </a:spcBef>
              <a:buChar char="▪"/>
              <a:tabLst>
                <a:tab pos="406400" algn="l"/>
              </a:tabLst>
            </a:pP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Cooperation/competition</a:t>
            </a:r>
            <a:endParaRPr sz="260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334"/>
              </a:spcBef>
              <a:buChar char="▪"/>
              <a:tabLst>
                <a:tab pos="406400" algn="l"/>
              </a:tabLst>
            </a:pP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Centralized/decentralized</a:t>
            </a:r>
            <a:endParaRPr sz="260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260"/>
              </a:spcBef>
              <a:buChar char="▪"/>
              <a:tabLst>
                <a:tab pos="406400" algn="l"/>
              </a:tabLst>
            </a:pP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Intervention/automation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3525" y="1086536"/>
            <a:ext cx="2781300" cy="3161665"/>
            <a:chOff x="5343525" y="1086536"/>
            <a:chExt cx="2781300" cy="31616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37140" y="1086536"/>
              <a:ext cx="2646766" cy="16183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3525" y="2476500"/>
              <a:ext cx="2781300" cy="177165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12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2055">
              <a:lnSpc>
                <a:spcPct val="100000"/>
              </a:lnSpc>
              <a:spcBef>
                <a:spcPts val="105"/>
              </a:spcBef>
            </a:pPr>
            <a:r>
              <a:rPr dirty="0"/>
              <a:t>Agentic</a:t>
            </a:r>
            <a:r>
              <a:rPr spc="-70" dirty="0"/>
              <a:t> </a:t>
            </a:r>
            <a:r>
              <a:rPr dirty="0"/>
              <a:t>Design</a:t>
            </a:r>
            <a:r>
              <a:rPr spc="-15" dirty="0"/>
              <a:t> </a:t>
            </a:r>
            <a:r>
              <a:rPr spc="-10" dirty="0"/>
              <a:t>Patterns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572" y="978026"/>
            <a:ext cx="3543935" cy="30029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06400" indent="-393700">
              <a:lnSpc>
                <a:spcPct val="100000"/>
              </a:lnSpc>
              <a:spcBef>
                <a:spcPts val="430"/>
              </a:spcBef>
              <a:buSzPct val="92307"/>
              <a:buChar char="▪"/>
              <a:tabLst>
                <a:tab pos="406400" algn="l"/>
              </a:tabLst>
            </a:pP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Conversation</a:t>
            </a:r>
            <a:endParaRPr sz="260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334"/>
              </a:spcBef>
              <a:buSzPct val="92307"/>
              <a:buChar char="▪"/>
              <a:tabLst>
                <a:tab pos="406400" algn="l"/>
              </a:tabLst>
            </a:pP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Prompting</a:t>
            </a:r>
            <a:r>
              <a:rPr sz="26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&amp; </a:t>
            </a: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reasoning</a:t>
            </a:r>
            <a:endParaRPr sz="260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335"/>
              </a:spcBef>
              <a:buSzPct val="92307"/>
              <a:buChar char="▪"/>
              <a:tabLst>
                <a:tab pos="406400" algn="l"/>
              </a:tabLst>
            </a:pP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Tool</a:t>
            </a:r>
            <a:r>
              <a:rPr sz="26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333399"/>
                </a:solidFill>
                <a:latin typeface="Calibri"/>
                <a:cs typeface="Calibri"/>
              </a:rPr>
              <a:t>use</a:t>
            </a:r>
            <a:endParaRPr sz="2600">
              <a:latin typeface="Calibri"/>
              <a:cs typeface="Calibri"/>
            </a:endParaRPr>
          </a:p>
          <a:p>
            <a:pPr marL="406400" indent="-393700">
              <a:lnSpc>
                <a:spcPct val="100000"/>
              </a:lnSpc>
              <a:spcBef>
                <a:spcPts val="265"/>
              </a:spcBef>
              <a:buSzPct val="92307"/>
              <a:buChar char="▪"/>
              <a:tabLst>
                <a:tab pos="406400" algn="l"/>
              </a:tabLst>
            </a:pP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Planning</a:t>
            </a:r>
            <a:endParaRPr sz="2600">
              <a:latin typeface="Calibri"/>
              <a:cs typeface="Calibri"/>
            </a:endParaRPr>
          </a:p>
          <a:p>
            <a:pPr marL="406400" marR="5080" indent="-394335">
              <a:lnSpc>
                <a:spcPct val="100000"/>
              </a:lnSpc>
              <a:spcBef>
                <a:spcPts val="334"/>
              </a:spcBef>
              <a:buSzPct val="92307"/>
              <a:buChar char="▪"/>
              <a:tabLst>
                <a:tab pos="406400" algn="l"/>
              </a:tabLst>
            </a:pP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Integrating</a:t>
            </a:r>
            <a:r>
              <a:rPr sz="26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multiple </a:t>
            </a: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models,</a:t>
            </a:r>
            <a:r>
              <a:rPr sz="26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modalities</a:t>
            </a:r>
            <a:r>
              <a:rPr sz="26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333399"/>
                </a:solidFill>
                <a:latin typeface="Calibri"/>
                <a:cs typeface="Calibri"/>
              </a:rPr>
              <a:t>and </a:t>
            </a:r>
            <a:r>
              <a:rPr sz="2600" spc="-10" dirty="0">
                <a:solidFill>
                  <a:srgbClr val="333399"/>
                </a:solidFill>
                <a:latin typeface="Calibri"/>
                <a:cs typeface="Calibri"/>
              </a:rPr>
              <a:t>memories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6450" y="971550"/>
            <a:ext cx="2181225" cy="31718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13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Examples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Agentic</a:t>
            </a:r>
            <a:r>
              <a:rPr spc="-30" dirty="0"/>
              <a:t> </a:t>
            </a:r>
            <a:r>
              <a:rPr dirty="0"/>
              <a:t>AI </a:t>
            </a:r>
            <a:r>
              <a:rPr spc="-10" dirty="0"/>
              <a:t>Frameworks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38100">
                <a:lnSpc>
                  <a:spcPts val="1450"/>
                </a:lnSpc>
              </a:pPr>
              <a:t>14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6400" indent="-393700">
              <a:lnSpc>
                <a:spcPts val="3065"/>
              </a:lnSpc>
              <a:spcBef>
                <a:spcPts val="130"/>
              </a:spcBef>
              <a:buChar char="▪"/>
              <a:tabLst>
                <a:tab pos="406400" algn="l"/>
              </a:tabLst>
            </a:pPr>
            <a:r>
              <a:rPr spc="-10" dirty="0"/>
              <a:t>AutoGen</a:t>
            </a:r>
          </a:p>
          <a:p>
            <a:pPr marL="864235" marR="53975" lvl="1" indent="-381635">
              <a:lnSpc>
                <a:spcPts val="2550"/>
              </a:lnSpc>
              <a:spcBef>
                <a:spcPts val="500"/>
              </a:spcBef>
              <a:buSzPct val="108333"/>
              <a:buFont typeface="Courier New"/>
              <a:buChar char="o"/>
              <a:tabLst>
                <a:tab pos="864235" algn="l"/>
              </a:tabLst>
            </a:pP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Multi-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agent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conversation programming</a:t>
            </a:r>
            <a:endParaRPr sz="2400">
              <a:latin typeface="Calibri"/>
              <a:cs typeface="Calibri"/>
            </a:endParaRPr>
          </a:p>
          <a:p>
            <a:pPr marL="1322070" marR="704850" lvl="2" indent="-368935">
              <a:lnSpc>
                <a:spcPts val="2410"/>
              </a:lnSpc>
              <a:spcBef>
                <a:spcPts val="275"/>
              </a:spcBef>
              <a:buSzPct val="111627"/>
              <a:buFont typeface="Wingdings"/>
              <a:buChar char=""/>
              <a:tabLst>
                <a:tab pos="1322070" algn="l"/>
              </a:tabLst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Comprehensive</a:t>
            </a:r>
            <a:r>
              <a:rPr sz="2150" spc="2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50" dirty="0">
                <a:solidFill>
                  <a:srgbClr val="333399"/>
                </a:solidFill>
                <a:latin typeface="Calibri"/>
                <a:cs typeface="Calibri"/>
              </a:rPr>
              <a:t>&amp;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flexible</a:t>
            </a:r>
            <a:endParaRPr sz="2150">
              <a:latin typeface="Calibri"/>
              <a:cs typeface="Calibri"/>
            </a:endParaRPr>
          </a:p>
          <a:p>
            <a:pPr marL="1322070" marR="5080" lvl="2" indent="-368935">
              <a:lnSpc>
                <a:spcPct val="92200"/>
              </a:lnSpc>
              <a:spcBef>
                <a:spcPts val="265"/>
              </a:spcBef>
              <a:buSzPct val="111627"/>
              <a:buFont typeface="Wingdings"/>
              <a:buChar char=""/>
              <a:tabLst>
                <a:tab pos="1322070" algn="l"/>
              </a:tabLst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Integrable</a:t>
            </a:r>
            <a:r>
              <a:rPr sz="2150" spc="1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with</a:t>
            </a:r>
            <a:r>
              <a:rPr sz="2150" spc="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20" dirty="0">
                <a:solidFill>
                  <a:srgbClr val="333399"/>
                </a:solidFill>
                <a:latin typeface="Calibri"/>
                <a:cs typeface="Calibri"/>
              </a:rPr>
              <a:t>other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frameworks</a:t>
            </a:r>
            <a:r>
              <a:rPr sz="2150" spc="1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like</a:t>
            </a:r>
            <a:r>
              <a:rPr sz="2150" spc="1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OpenAI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Assistant,</a:t>
            </a:r>
            <a:r>
              <a:rPr sz="2150" spc="1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LlamaIndex, LangChain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6400" indent="-393700">
              <a:lnSpc>
                <a:spcPct val="100000"/>
              </a:lnSpc>
              <a:spcBef>
                <a:spcPts val="130"/>
              </a:spcBef>
              <a:buChar char="▪"/>
              <a:tabLst>
                <a:tab pos="406400" algn="l"/>
              </a:tabLst>
            </a:pPr>
            <a:r>
              <a:rPr spc="-10" dirty="0"/>
              <a:t>Langchain-</a:t>
            </a:r>
            <a:r>
              <a:rPr spc="-20" dirty="0"/>
              <a:t>based</a:t>
            </a:r>
          </a:p>
          <a:p>
            <a:pPr marL="863600" lvl="1" indent="-381000">
              <a:lnSpc>
                <a:spcPct val="100000"/>
              </a:lnSpc>
              <a:spcBef>
                <a:spcPts val="185"/>
              </a:spcBef>
              <a:buSzPct val="108333"/>
              <a:buFont typeface="Courier New"/>
              <a:buChar char="o"/>
              <a:tabLst>
                <a:tab pos="863600" algn="l"/>
              </a:tabLst>
            </a:pP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Langraph</a:t>
            </a:r>
            <a:endParaRPr sz="2400">
              <a:latin typeface="Calibri"/>
              <a:cs typeface="Calibri"/>
            </a:endParaRPr>
          </a:p>
          <a:p>
            <a:pPr marL="1321435" marR="269240" lvl="2" indent="-368935">
              <a:lnSpc>
                <a:spcPct val="104900"/>
              </a:lnSpc>
              <a:spcBef>
                <a:spcPts val="135"/>
              </a:spcBef>
              <a:buFont typeface="Wingdings"/>
              <a:buChar char=""/>
              <a:tabLst>
                <a:tab pos="1321435" algn="l"/>
              </a:tabLst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Graph-based</a:t>
            </a:r>
            <a:r>
              <a:rPr sz="2150" spc="1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control </a:t>
            </a:r>
            <a:r>
              <a:rPr sz="2150" spc="-20" dirty="0">
                <a:solidFill>
                  <a:srgbClr val="333399"/>
                </a:solidFill>
                <a:latin typeface="Calibri"/>
                <a:cs typeface="Calibri"/>
              </a:rPr>
              <a:t>flow</a:t>
            </a:r>
            <a:endParaRPr sz="2150">
              <a:latin typeface="Calibri"/>
              <a:cs typeface="Calibri"/>
            </a:endParaRPr>
          </a:p>
          <a:p>
            <a:pPr marL="863600" lvl="1" indent="-381000">
              <a:lnSpc>
                <a:spcPct val="100000"/>
              </a:lnSpc>
              <a:spcBef>
                <a:spcPts val="50"/>
              </a:spcBef>
              <a:buSzPct val="108333"/>
              <a:buFont typeface="Courier New"/>
              <a:buChar char="o"/>
              <a:tabLst>
                <a:tab pos="863600" algn="l"/>
              </a:tabLst>
            </a:pP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CrewAI</a:t>
            </a:r>
            <a:endParaRPr sz="2400">
              <a:latin typeface="Calibri"/>
              <a:cs typeface="Calibri"/>
            </a:endParaRPr>
          </a:p>
          <a:p>
            <a:pPr marL="1321435" marR="5080" lvl="2" indent="-368935">
              <a:lnSpc>
                <a:spcPct val="102000"/>
              </a:lnSpc>
              <a:spcBef>
                <a:spcPts val="280"/>
              </a:spcBef>
              <a:buSzPct val="120930"/>
              <a:buFont typeface="Wingdings"/>
              <a:buChar char=""/>
              <a:tabLst>
                <a:tab pos="1321435" algn="l"/>
              </a:tabLst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High-level</a:t>
            </a:r>
            <a:r>
              <a:rPr sz="2150" spc="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static</a:t>
            </a:r>
            <a:r>
              <a:rPr sz="2150" spc="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agent-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task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workflow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688"/>
            <a:ext cx="9149080" cy="57150"/>
            <a:chOff x="0" y="47688"/>
            <a:chExt cx="9149080" cy="57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3" y="52451"/>
              <a:ext cx="9139236" cy="476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763" y="52451"/>
              <a:ext cx="9139555" cy="47625"/>
            </a:xfrm>
            <a:custGeom>
              <a:avLst/>
              <a:gdLst/>
              <a:ahLst/>
              <a:cxnLst/>
              <a:rect l="l" t="t" r="r" b="b"/>
              <a:pathLst>
                <a:path w="9139555" h="47625">
                  <a:moveTo>
                    <a:pt x="9139236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39236" y="476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54659" y="511873"/>
            <a:ext cx="3460115" cy="6248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" algn="ctr">
              <a:lnSpc>
                <a:spcPts val="2340"/>
              </a:lnSpc>
              <a:spcBef>
                <a:spcPts val="125"/>
              </a:spcBef>
            </a:pPr>
            <a:r>
              <a:rPr sz="2150" dirty="0">
                <a:latin typeface="Segoe UI Semilight"/>
                <a:cs typeface="Segoe UI Semilight"/>
              </a:rPr>
              <a:t>Define</a:t>
            </a:r>
            <a:r>
              <a:rPr sz="2150" spc="125" dirty="0">
                <a:latin typeface="Segoe UI Semilight"/>
                <a:cs typeface="Segoe UI Semilight"/>
              </a:rPr>
              <a:t> </a:t>
            </a:r>
            <a:r>
              <a:rPr sz="2150" spc="-10" dirty="0">
                <a:latin typeface="Segoe UI Semilight"/>
                <a:cs typeface="Segoe UI Semilight"/>
              </a:rPr>
              <a:t>agents:</a:t>
            </a:r>
            <a:endParaRPr sz="2150">
              <a:latin typeface="Segoe UI Semilight"/>
              <a:cs typeface="Segoe UI Semilight"/>
            </a:endParaRPr>
          </a:p>
          <a:p>
            <a:pPr algn="ctr">
              <a:lnSpc>
                <a:spcPts val="2340"/>
              </a:lnSpc>
            </a:pPr>
            <a:r>
              <a:rPr sz="2150" dirty="0">
                <a:latin typeface="Segoe UI Semilight"/>
                <a:cs typeface="Segoe UI Semilight"/>
              </a:rPr>
              <a:t>Conversable</a:t>
            </a:r>
            <a:r>
              <a:rPr sz="2150" spc="105" dirty="0">
                <a:latin typeface="Segoe UI Semilight"/>
                <a:cs typeface="Segoe UI Semilight"/>
              </a:rPr>
              <a:t> </a:t>
            </a:r>
            <a:r>
              <a:rPr sz="2150" dirty="0">
                <a:latin typeface="Segoe UI Semilight"/>
                <a:cs typeface="Segoe UI Semilight"/>
              </a:rPr>
              <a:t>&amp;</a:t>
            </a:r>
            <a:r>
              <a:rPr sz="2150" spc="80" dirty="0">
                <a:latin typeface="Segoe UI Semilight"/>
                <a:cs typeface="Segoe UI Semilight"/>
              </a:rPr>
              <a:t> </a:t>
            </a:r>
            <a:r>
              <a:rPr sz="2150" spc="-10" dirty="0">
                <a:latin typeface="Segoe UI Semilight"/>
                <a:cs typeface="Segoe UI Semilight"/>
              </a:rPr>
              <a:t>Customizable</a:t>
            </a:r>
            <a:endParaRPr sz="2150">
              <a:latin typeface="Segoe UI Semilight"/>
              <a:cs typeface="Segoe UI Semiligh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50" y="1171575"/>
            <a:ext cx="2381250" cy="30868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82168" y="2603046"/>
            <a:ext cx="5225203" cy="163285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53610" y="511873"/>
            <a:ext cx="3321050" cy="6248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445" algn="ctr">
              <a:lnSpc>
                <a:spcPts val="2340"/>
              </a:lnSpc>
              <a:spcBef>
                <a:spcPts val="125"/>
              </a:spcBef>
            </a:pPr>
            <a:r>
              <a:rPr sz="2150" dirty="0">
                <a:latin typeface="Segoe UI Semilight"/>
                <a:cs typeface="Segoe UI Semilight"/>
              </a:rPr>
              <a:t>Get</a:t>
            </a:r>
            <a:r>
              <a:rPr sz="2150" spc="30" dirty="0">
                <a:latin typeface="Segoe UI Semilight"/>
                <a:cs typeface="Segoe UI Semilight"/>
              </a:rPr>
              <a:t> </a:t>
            </a:r>
            <a:r>
              <a:rPr sz="2150" dirty="0">
                <a:latin typeface="Segoe UI Semilight"/>
                <a:cs typeface="Segoe UI Semilight"/>
              </a:rPr>
              <a:t>them</a:t>
            </a:r>
            <a:r>
              <a:rPr sz="2150" spc="25" dirty="0">
                <a:latin typeface="Segoe UI Semilight"/>
                <a:cs typeface="Segoe UI Semilight"/>
              </a:rPr>
              <a:t> </a:t>
            </a:r>
            <a:r>
              <a:rPr sz="2150" dirty="0">
                <a:latin typeface="Segoe UI Semilight"/>
                <a:cs typeface="Segoe UI Semilight"/>
              </a:rPr>
              <a:t>to</a:t>
            </a:r>
            <a:r>
              <a:rPr sz="2150" spc="80" dirty="0">
                <a:latin typeface="Segoe UI Semilight"/>
                <a:cs typeface="Segoe UI Semilight"/>
              </a:rPr>
              <a:t> </a:t>
            </a:r>
            <a:r>
              <a:rPr sz="2150" spc="-10" dirty="0">
                <a:latin typeface="Segoe UI Semilight"/>
                <a:cs typeface="Segoe UI Semilight"/>
              </a:rPr>
              <a:t>talk:</a:t>
            </a:r>
            <a:endParaRPr sz="2150">
              <a:latin typeface="Segoe UI Semilight"/>
              <a:cs typeface="Segoe UI Semilight"/>
            </a:endParaRPr>
          </a:p>
          <a:p>
            <a:pPr algn="ctr">
              <a:lnSpc>
                <a:spcPts val="2340"/>
              </a:lnSpc>
            </a:pPr>
            <a:r>
              <a:rPr sz="2150" dirty="0">
                <a:latin typeface="Segoe UI Semilight"/>
                <a:cs typeface="Segoe UI Semilight"/>
              </a:rPr>
              <a:t>Conversation</a:t>
            </a:r>
            <a:r>
              <a:rPr sz="2150" spc="200" dirty="0">
                <a:latin typeface="Segoe UI Semilight"/>
                <a:cs typeface="Segoe UI Semilight"/>
              </a:rPr>
              <a:t> </a:t>
            </a:r>
            <a:r>
              <a:rPr sz="2150" spc="-10" dirty="0">
                <a:latin typeface="Segoe UI Semilight"/>
                <a:cs typeface="Segoe UI Semilight"/>
              </a:rPr>
              <a:t>Programming</a:t>
            </a:r>
            <a:endParaRPr sz="2150">
              <a:latin typeface="Segoe UI Semilight"/>
              <a:cs typeface="Segoe UI Semiligh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87686" y="1230323"/>
            <a:ext cx="1853539" cy="112881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/>
              <a:pPr marL="38100">
                <a:lnSpc>
                  <a:spcPts val="1450"/>
                </a:lnSpc>
              </a:pPr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657" y="608012"/>
            <a:ext cx="43110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Blogpost</a:t>
            </a:r>
            <a:r>
              <a:rPr sz="2400" spc="-2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Arial MT"/>
                <a:cs typeface="Arial MT"/>
              </a:rPr>
              <a:t>Writing</a:t>
            </a:r>
            <a:r>
              <a:rPr sz="2400" spc="-8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with</a:t>
            </a:r>
            <a:r>
              <a:rPr sz="2400" spc="-8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Arial MT"/>
                <a:cs typeface="Arial MT"/>
              </a:rPr>
              <a:t>Reflection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98615" y="461327"/>
            <a:ext cx="19558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Arial MT"/>
                <a:cs typeface="Arial MT"/>
              </a:rPr>
              <a:t>Two-</a:t>
            </a:r>
            <a:r>
              <a:rPr sz="1550" dirty="0">
                <a:latin typeface="Arial MT"/>
                <a:cs typeface="Arial MT"/>
              </a:rPr>
              <a:t>Agent</a:t>
            </a:r>
            <a:r>
              <a:rPr sz="1550" spc="15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Reflection</a:t>
            </a:r>
            <a:endParaRPr sz="15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1276350"/>
            <a:ext cx="4505325" cy="2819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0175" y="1268828"/>
            <a:ext cx="3394283" cy="9706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4296" y="2583730"/>
            <a:ext cx="2549126" cy="135257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/>
              <a:pPr marL="38100">
                <a:lnSpc>
                  <a:spcPts val="1450"/>
                </a:lnSpc>
              </a:pPr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438150"/>
            <a:ext cx="9149080" cy="4191000"/>
            <a:chOff x="-4762" y="438150"/>
            <a:chExt cx="9149080" cy="4191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81126"/>
              <a:ext cx="9139236" cy="476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881126"/>
              <a:ext cx="9139555" cy="47625"/>
            </a:xfrm>
            <a:custGeom>
              <a:avLst/>
              <a:gdLst/>
              <a:ahLst/>
              <a:cxnLst/>
              <a:rect l="l" t="t" r="r" b="b"/>
              <a:pathLst>
                <a:path w="9139555" h="47625">
                  <a:moveTo>
                    <a:pt x="0" y="47625"/>
                  </a:moveTo>
                  <a:lnTo>
                    <a:pt x="9139236" y="47625"/>
                  </a:lnTo>
                  <a:lnTo>
                    <a:pt x="9139236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5" y="438150"/>
              <a:ext cx="8858250" cy="4191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53172" y="4733607"/>
            <a:ext cx="57238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more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examples: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u="sng" spc="-10" dirty="0">
                <a:solidFill>
                  <a:srgbClr val="019797"/>
                </a:solidFill>
                <a:uFill>
                  <a:solidFill>
                    <a:srgbClr val="019797"/>
                  </a:solidFill>
                </a:uFill>
                <a:latin typeface="Arial MT"/>
                <a:cs typeface="Arial MT"/>
                <a:hlinkClick r:id="rId4"/>
              </a:rPr>
              <a:t>https://autogen-ai.github.io/autogen/docs/notebooks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2095" y="0"/>
            <a:ext cx="6394705" cy="5143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379" y="2618580"/>
            <a:ext cx="203200" cy="3073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80"/>
              </a:lnSpc>
            </a:pPr>
            <a:r>
              <a:rPr sz="1250" spc="-95" dirty="0">
                <a:latin typeface="Arial MT"/>
                <a:cs typeface="Arial MT"/>
              </a:rPr>
              <a:t>Area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845" y="161492"/>
            <a:ext cx="1940560" cy="4904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software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development</a:t>
            </a:r>
            <a:endParaRPr sz="1100">
              <a:latin typeface="Arial MT"/>
              <a:cs typeface="Arial MT"/>
            </a:endParaRPr>
          </a:p>
          <a:p>
            <a:pPr marR="6985" algn="r">
              <a:lnSpc>
                <a:spcPct val="100000"/>
              </a:lnSpc>
              <a:spcBef>
                <a:spcPts val="1005"/>
              </a:spcBef>
            </a:pPr>
            <a:r>
              <a:rPr sz="1100" dirty="0">
                <a:latin typeface="Arial MT"/>
                <a:cs typeface="Arial MT"/>
              </a:rPr>
              <a:t>agent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platform</a:t>
            </a:r>
            <a:endParaRPr sz="1100">
              <a:latin typeface="Arial MT"/>
              <a:cs typeface="Arial MT"/>
            </a:endParaRPr>
          </a:p>
          <a:p>
            <a:pPr marL="1376680" marR="12700" indent="-112395" algn="r">
              <a:lnSpc>
                <a:spcPts val="2350"/>
              </a:lnSpc>
              <a:spcBef>
                <a:spcPts val="204"/>
              </a:spcBef>
            </a:pPr>
            <a:r>
              <a:rPr sz="1100" spc="-10" dirty="0">
                <a:latin typeface="Arial MT"/>
                <a:cs typeface="Arial MT"/>
              </a:rPr>
              <a:t>consulting research</a:t>
            </a:r>
            <a:endParaRPr sz="1100">
              <a:latin typeface="Arial MT"/>
              <a:cs typeface="Arial MT"/>
            </a:endParaRPr>
          </a:p>
          <a:p>
            <a:pPr marR="10795" algn="r">
              <a:lnSpc>
                <a:spcPct val="100000"/>
              </a:lnSpc>
              <a:spcBef>
                <a:spcPts val="735"/>
              </a:spcBef>
            </a:pP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processing</a:t>
            </a:r>
            <a:endParaRPr sz="1100">
              <a:latin typeface="Arial MT"/>
              <a:cs typeface="Arial MT"/>
            </a:endParaRPr>
          </a:p>
          <a:p>
            <a:pPr marR="9525" algn="r">
              <a:lnSpc>
                <a:spcPct val="100000"/>
              </a:lnSpc>
              <a:spcBef>
                <a:spcPts val="980"/>
              </a:spcBef>
            </a:pPr>
            <a:r>
              <a:rPr sz="1100" dirty="0">
                <a:latin typeface="Arial MT"/>
                <a:cs typeface="Arial MT"/>
              </a:rPr>
              <a:t>gaming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simulation</a:t>
            </a:r>
            <a:endParaRPr sz="1100">
              <a:latin typeface="Arial MT"/>
              <a:cs typeface="Arial MT"/>
            </a:endParaRPr>
          </a:p>
          <a:p>
            <a:pPr marL="1047115" marR="10160" indent="-179070" algn="r">
              <a:lnSpc>
                <a:spcPct val="174500"/>
              </a:lnSpc>
              <a:spcBef>
                <a:spcPts val="25"/>
              </a:spcBef>
            </a:pPr>
            <a:r>
              <a:rPr sz="1100" dirty="0">
                <a:latin typeface="Arial MT"/>
                <a:cs typeface="Arial MT"/>
              </a:rPr>
              <a:t>content</a:t>
            </a:r>
            <a:r>
              <a:rPr sz="1100" spc="2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creation </a:t>
            </a:r>
            <a:r>
              <a:rPr sz="1100" dirty="0">
                <a:latin typeface="Arial MT"/>
                <a:cs typeface="Arial MT"/>
              </a:rPr>
              <a:t>web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browsing</a:t>
            </a:r>
            <a:endParaRPr sz="1100">
              <a:latin typeface="Arial MT"/>
              <a:cs typeface="Arial MT"/>
            </a:endParaRPr>
          </a:p>
          <a:p>
            <a:pPr marL="12700" marR="8255" indent="1447800" algn="r">
              <a:lnSpc>
                <a:spcPct val="176300"/>
              </a:lnSpc>
            </a:pPr>
            <a:r>
              <a:rPr sz="1100" spc="-10" dirty="0">
                <a:latin typeface="Arial MT"/>
                <a:cs typeface="Arial MT"/>
              </a:rPr>
              <a:t>finance </a:t>
            </a:r>
            <a:r>
              <a:rPr sz="1100" dirty="0">
                <a:latin typeface="Arial MT"/>
                <a:cs typeface="Arial MT"/>
              </a:rPr>
              <a:t>operating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automation</a:t>
            </a:r>
            <a:endParaRPr sz="1100">
              <a:latin typeface="Arial MT"/>
              <a:cs typeface="Arial MT"/>
            </a:endParaRPr>
          </a:p>
          <a:p>
            <a:pPr marL="629285" marR="12065" indent="618490" algn="r">
              <a:lnSpc>
                <a:spcPct val="174500"/>
              </a:lnSpc>
            </a:pPr>
            <a:r>
              <a:rPr sz="1100" spc="-10" dirty="0">
                <a:latin typeface="Arial MT"/>
                <a:cs typeface="Arial MT"/>
              </a:rPr>
              <a:t>healthcare </a:t>
            </a:r>
            <a:r>
              <a:rPr sz="1100" dirty="0">
                <a:latin typeface="Arial MT"/>
                <a:cs typeface="Arial MT"/>
              </a:rPr>
              <a:t>information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security</a:t>
            </a:r>
            <a:endParaRPr sz="1100">
              <a:latin typeface="Arial MT"/>
              <a:cs typeface="Arial MT"/>
            </a:endParaRPr>
          </a:p>
          <a:p>
            <a:pPr marL="1295400" marR="9525" indent="-16510" algn="r">
              <a:lnSpc>
                <a:spcPct val="176300"/>
              </a:lnSpc>
            </a:pPr>
            <a:r>
              <a:rPr sz="1100" spc="-10" dirty="0">
                <a:latin typeface="Arial MT"/>
                <a:cs typeface="Arial MT"/>
              </a:rPr>
              <a:t>marketing education</a:t>
            </a:r>
            <a:endParaRPr sz="1100">
              <a:latin typeface="Arial MT"/>
              <a:cs typeface="Arial MT"/>
            </a:endParaRPr>
          </a:p>
          <a:p>
            <a:pPr marL="1501140" marR="5080" indent="105410" algn="r">
              <a:lnSpc>
                <a:spcPct val="175400"/>
              </a:lnSpc>
              <a:spcBef>
                <a:spcPts val="15"/>
              </a:spcBef>
            </a:pPr>
            <a:r>
              <a:rPr sz="1100" spc="-25" dirty="0">
                <a:latin typeface="Arial MT"/>
                <a:cs typeface="Arial MT"/>
              </a:rPr>
              <a:t>sales </a:t>
            </a:r>
            <a:r>
              <a:rPr sz="1100" spc="-10" dirty="0">
                <a:latin typeface="Arial MT"/>
                <a:cs typeface="Arial MT"/>
              </a:rPr>
              <a:t>legal mobile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688"/>
            <a:ext cx="9149080" cy="57150"/>
            <a:chOff x="0" y="47688"/>
            <a:chExt cx="9149080" cy="57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3" y="52451"/>
              <a:ext cx="9139236" cy="476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763" y="52451"/>
              <a:ext cx="9139555" cy="47625"/>
            </a:xfrm>
            <a:custGeom>
              <a:avLst/>
              <a:gdLst/>
              <a:ahLst/>
              <a:cxnLst/>
              <a:rect l="l" t="t" r="r" b="b"/>
              <a:pathLst>
                <a:path w="9139555" h="47625">
                  <a:moveTo>
                    <a:pt x="9139236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39236" y="476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73575" y="4786312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5" dirty="0">
                <a:solidFill>
                  <a:srgbClr val="888888"/>
                </a:solidFill>
                <a:latin typeface="Calibri"/>
                <a:cs typeface="Calibri"/>
              </a:rPr>
              <a:t>32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4" name="Title 4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6088" y="236538"/>
            <a:ext cx="8250237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688"/>
            <a:ext cx="9149080" cy="57150"/>
            <a:chOff x="0" y="47688"/>
            <a:chExt cx="9149080" cy="57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3" y="52451"/>
              <a:ext cx="9139236" cy="476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763" y="52451"/>
              <a:ext cx="9139555" cy="47625"/>
            </a:xfrm>
            <a:custGeom>
              <a:avLst/>
              <a:gdLst/>
              <a:ahLst/>
              <a:cxnLst/>
              <a:rect l="l" t="t" r="r" b="b"/>
              <a:pathLst>
                <a:path w="9139555" h="47625">
                  <a:moveTo>
                    <a:pt x="9139236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39236" y="476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9484" y="866613"/>
            <a:ext cx="3244215" cy="3491229"/>
            <a:chOff x="9484" y="866613"/>
            <a:chExt cx="3244215" cy="349122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84" y="866613"/>
              <a:ext cx="3243651" cy="3491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9537" y="966851"/>
              <a:ext cx="2867660" cy="3105150"/>
            </a:xfrm>
            <a:custGeom>
              <a:avLst/>
              <a:gdLst/>
              <a:ahLst/>
              <a:cxnLst/>
              <a:rect l="l" t="t" r="r" b="b"/>
              <a:pathLst>
                <a:path w="2867660" h="3105150">
                  <a:moveTo>
                    <a:pt x="2684335" y="0"/>
                  </a:moveTo>
                  <a:lnTo>
                    <a:pt x="182740" y="0"/>
                  </a:lnTo>
                  <a:lnTo>
                    <a:pt x="134159" y="6525"/>
                  </a:lnTo>
                  <a:lnTo>
                    <a:pt x="90506" y="24939"/>
                  </a:lnTo>
                  <a:lnTo>
                    <a:pt x="53522" y="53498"/>
                  </a:lnTo>
                  <a:lnTo>
                    <a:pt x="24948" y="90461"/>
                  </a:lnTo>
                  <a:lnTo>
                    <a:pt x="6527" y="134084"/>
                  </a:lnTo>
                  <a:lnTo>
                    <a:pt x="0" y="182625"/>
                  </a:lnTo>
                  <a:lnTo>
                    <a:pt x="0" y="2922346"/>
                  </a:lnTo>
                  <a:lnTo>
                    <a:pt x="6527" y="2970926"/>
                  </a:lnTo>
                  <a:lnTo>
                    <a:pt x="24948" y="3014579"/>
                  </a:lnTo>
                  <a:lnTo>
                    <a:pt x="53522" y="3051563"/>
                  </a:lnTo>
                  <a:lnTo>
                    <a:pt x="90506" y="3080137"/>
                  </a:lnTo>
                  <a:lnTo>
                    <a:pt x="134159" y="3098558"/>
                  </a:lnTo>
                  <a:lnTo>
                    <a:pt x="182740" y="3105086"/>
                  </a:lnTo>
                  <a:lnTo>
                    <a:pt x="2684335" y="3105086"/>
                  </a:lnTo>
                  <a:lnTo>
                    <a:pt x="2732885" y="3098558"/>
                  </a:lnTo>
                  <a:lnTo>
                    <a:pt x="2776532" y="3080137"/>
                  </a:lnTo>
                  <a:lnTo>
                    <a:pt x="2813526" y="3051563"/>
                  </a:lnTo>
                  <a:lnTo>
                    <a:pt x="2842116" y="3014579"/>
                  </a:lnTo>
                  <a:lnTo>
                    <a:pt x="2860553" y="2970926"/>
                  </a:lnTo>
                  <a:lnTo>
                    <a:pt x="2867088" y="2922346"/>
                  </a:lnTo>
                  <a:lnTo>
                    <a:pt x="2867088" y="182625"/>
                  </a:lnTo>
                  <a:lnTo>
                    <a:pt x="2860553" y="134084"/>
                  </a:lnTo>
                  <a:lnTo>
                    <a:pt x="2842116" y="90461"/>
                  </a:lnTo>
                  <a:lnTo>
                    <a:pt x="2813526" y="53498"/>
                  </a:lnTo>
                  <a:lnTo>
                    <a:pt x="2776532" y="24939"/>
                  </a:lnTo>
                  <a:lnTo>
                    <a:pt x="2732885" y="6525"/>
                  </a:lnTo>
                  <a:lnTo>
                    <a:pt x="2684335" y="0"/>
                  </a:lnTo>
                  <a:close/>
                </a:path>
              </a:pathLst>
            </a:custGeom>
            <a:solidFill>
              <a:srgbClr val="291E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537" y="966851"/>
              <a:ext cx="2867660" cy="3105150"/>
            </a:xfrm>
            <a:custGeom>
              <a:avLst/>
              <a:gdLst/>
              <a:ahLst/>
              <a:cxnLst/>
              <a:rect l="l" t="t" r="r" b="b"/>
              <a:pathLst>
                <a:path w="2867660" h="3105150">
                  <a:moveTo>
                    <a:pt x="0" y="182625"/>
                  </a:moveTo>
                  <a:lnTo>
                    <a:pt x="6527" y="134084"/>
                  </a:lnTo>
                  <a:lnTo>
                    <a:pt x="24948" y="90461"/>
                  </a:lnTo>
                  <a:lnTo>
                    <a:pt x="53522" y="53498"/>
                  </a:lnTo>
                  <a:lnTo>
                    <a:pt x="90506" y="24939"/>
                  </a:lnTo>
                  <a:lnTo>
                    <a:pt x="134159" y="6525"/>
                  </a:lnTo>
                  <a:lnTo>
                    <a:pt x="182740" y="0"/>
                  </a:lnTo>
                  <a:lnTo>
                    <a:pt x="2684335" y="0"/>
                  </a:lnTo>
                  <a:lnTo>
                    <a:pt x="2732885" y="6525"/>
                  </a:lnTo>
                  <a:lnTo>
                    <a:pt x="2776532" y="24939"/>
                  </a:lnTo>
                  <a:lnTo>
                    <a:pt x="2813526" y="53498"/>
                  </a:lnTo>
                  <a:lnTo>
                    <a:pt x="2842116" y="90461"/>
                  </a:lnTo>
                  <a:lnTo>
                    <a:pt x="2860553" y="134084"/>
                  </a:lnTo>
                  <a:lnTo>
                    <a:pt x="2867088" y="182625"/>
                  </a:lnTo>
                  <a:lnTo>
                    <a:pt x="2867088" y="2922346"/>
                  </a:lnTo>
                  <a:lnTo>
                    <a:pt x="2860553" y="2970926"/>
                  </a:lnTo>
                  <a:lnTo>
                    <a:pt x="2842116" y="3014579"/>
                  </a:lnTo>
                  <a:lnTo>
                    <a:pt x="2813526" y="3051563"/>
                  </a:lnTo>
                  <a:lnTo>
                    <a:pt x="2776532" y="3080137"/>
                  </a:lnTo>
                  <a:lnTo>
                    <a:pt x="2732885" y="3098558"/>
                  </a:lnTo>
                  <a:lnTo>
                    <a:pt x="2684335" y="3105086"/>
                  </a:lnTo>
                  <a:lnTo>
                    <a:pt x="182740" y="3105086"/>
                  </a:lnTo>
                  <a:lnTo>
                    <a:pt x="134159" y="3098558"/>
                  </a:lnTo>
                  <a:lnTo>
                    <a:pt x="90506" y="3080137"/>
                  </a:lnTo>
                  <a:lnTo>
                    <a:pt x="53522" y="3051563"/>
                  </a:lnTo>
                  <a:lnTo>
                    <a:pt x="24948" y="3014579"/>
                  </a:lnTo>
                  <a:lnTo>
                    <a:pt x="6527" y="2970926"/>
                  </a:lnTo>
                  <a:lnTo>
                    <a:pt x="0" y="2922346"/>
                  </a:lnTo>
                  <a:lnTo>
                    <a:pt x="0" y="182625"/>
                  </a:lnTo>
                  <a:close/>
                </a:path>
              </a:pathLst>
            </a:custGeom>
            <a:ln w="25400">
              <a:solidFill>
                <a:srgbClr val="4750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1650" y="1678177"/>
            <a:ext cx="2080260" cy="209613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-1270" algn="ctr">
              <a:lnSpc>
                <a:spcPct val="141800"/>
              </a:lnSpc>
              <a:spcBef>
                <a:spcPts val="70"/>
              </a:spcBef>
            </a:pPr>
            <a:r>
              <a:rPr sz="24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Quality </a:t>
            </a: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Monetary</a:t>
            </a:r>
            <a:r>
              <a:rPr sz="2400" spc="3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Semibold"/>
                <a:cs typeface="Segoe UI Semibold"/>
              </a:rPr>
              <a:t>Cost </a:t>
            </a:r>
            <a:r>
              <a:rPr sz="24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Latency </a:t>
            </a:r>
            <a:r>
              <a:rPr sz="2400" dirty="0">
                <a:solidFill>
                  <a:srgbClr val="FFFFFF"/>
                </a:solidFill>
                <a:latin typeface="Segoe UI Semibold"/>
                <a:cs typeface="Segoe UI Semibold"/>
              </a:rPr>
              <a:t>Manual</a:t>
            </a:r>
            <a:r>
              <a:rPr sz="2400" spc="-6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Effort</a:t>
            </a:r>
            <a:endParaRPr sz="2400">
              <a:latin typeface="Segoe UI Semibold"/>
              <a:cs typeface="Segoe UI Semibold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295275"/>
            <a:ext cx="3319779" cy="1529080"/>
            <a:chOff x="0" y="295275"/>
            <a:chExt cx="3319779" cy="152908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95275"/>
              <a:ext cx="3319525" cy="15286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9537" y="471551"/>
              <a:ext cx="2867660" cy="1057275"/>
            </a:xfrm>
            <a:custGeom>
              <a:avLst/>
              <a:gdLst/>
              <a:ahLst/>
              <a:cxnLst/>
              <a:rect l="l" t="t" r="r" b="b"/>
              <a:pathLst>
                <a:path w="2867660" h="1057275">
                  <a:moveTo>
                    <a:pt x="2768155" y="0"/>
                  </a:moveTo>
                  <a:lnTo>
                    <a:pt x="98920" y="0"/>
                  </a:lnTo>
                  <a:lnTo>
                    <a:pt x="60414" y="7758"/>
                  </a:lnTo>
                  <a:lnTo>
                    <a:pt x="28971" y="28924"/>
                  </a:lnTo>
                  <a:lnTo>
                    <a:pt x="7773" y="60328"/>
                  </a:lnTo>
                  <a:lnTo>
                    <a:pt x="0" y="98806"/>
                  </a:lnTo>
                  <a:lnTo>
                    <a:pt x="0" y="1057275"/>
                  </a:lnTo>
                  <a:lnTo>
                    <a:pt x="2867088" y="1057275"/>
                  </a:lnTo>
                  <a:lnTo>
                    <a:pt x="2867088" y="98806"/>
                  </a:lnTo>
                  <a:lnTo>
                    <a:pt x="2859309" y="60328"/>
                  </a:lnTo>
                  <a:lnTo>
                    <a:pt x="2838100" y="28924"/>
                  </a:lnTo>
                  <a:lnTo>
                    <a:pt x="2806652" y="7758"/>
                  </a:lnTo>
                  <a:lnTo>
                    <a:pt x="2768155" y="0"/>
                  </a:lnTo>
                  <a:close/>
                </a:path>
              </a:pathLst>
            </a:custGeom>
            <a:solidFill>
              <a:srgbClr val="4750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9537" y="471551"/>
              <a:ext cx="2867660" cy="1057275"/>
            </a:xfrm>
            <a:custGeom>
              <a:avLst/>
              <a:gdLst/>
              <a:ahLst/>
              <a:cxnLst/>
              <a:rect l="l" t="t" r="r" b="b"/>
              <a:pathLst>
                <a:path w="2867660" h="1057275">
                  <a:moveTo>
                    <a:pt x="98920" y="0"/>
                  </a:moveTo>
                  <a:lnTo>
                    <a:pt x="2768155" y="0"/>
                  </a:lnTo>
                  <a:lnTo>
                    <a:pt x="2806652" y="7758"/>
                  </a:lnTo>
                  <a:lnTo>
                    <a:pt x="2838100" y="28924"/>
                  </a:lnTo>
                  <a:lnTo>
                    <a:pt x="2859309" y="60328"/>
                  </a:lnTo>
                  <a:lnTo>
                    <a:pt x="2867088" y="98806"/>
                  </a:lnTo>
                  <a:lnTo>
                    <a:pt x="2867088" y="1057275"/>
                  </a:lnTo>
                  <a:lnTo>
                    <a:pt x="0" y="1057275"/>
                  </a:lnTo>
                  <a:lnTo>
                    <a:pt x="0" y="98806"/>
                  </a:lnTo>
                  <a:lnTo>
                    <a:pt x="7773" y="60328"/>
                  </a:lnTo>
                  <a:lnTo>
                    <a:pt x="28971" y="28924"/>
                  </a:lnTo>
                  <a:lnTo>
                    <a:pt x="60414" y="7758"/>
                  </a:lnTo>
                  <a:lnTo>
                    <a:pt x="98920" y="0"/>
                  </a:lnTo>
                  <a:close/>
                </a:path>
              </a:pathLst>
            </a:custGeom>
            <a:ln w="25400">
              <a:solidFill>
                <a:srgbClr val="4750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6124" y="718756"/>
            <a:ext cx="283400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Segoe UI Semilight"/>
                <a:cs typeface="Segoe UI Semilight"/>
              </a:rPr>
              <a:t>How</a:t>
            </a:r>
            <a:r>
              <a:rPr sz="1800" spc="-11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Semilight"/>
                <a:cs typeface="Segoe UI Semilight"/>
              </a:rPr>
              <a:t>to</a:t>
            </a:r>
            <a:r>
              <a:rPr sz="1800" spc="-10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Semilight"/>
                <a:cs typeface="Segoe UI Semilight"/>
              </a:rPr>
              <a:t>design</a:t>
            </a:r>
            <a:r>
              <a:rPr sz="1800" spc="-6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optimal</a:t>
            </a:r>
            <a:endParaRPr sz="1800">
              <a:latin typeface="Segoe UI Semilight"/>
              <a:cs typeface="Segoe UI Semilight"/>
            </a:endParaRPr>
          </a:p>
          <a:p>
            <a:pPr marL="338455">
              <a:lnSpc>
                <a:spcPts val="2130"/>
              </a:lnSpc>
            </a:pPr>
            <a:r>
              <a:rPr sz="18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multi-</a:t>
            </a:r>
            <a:r>
              <a:rPr sz="1800" dirty="0">
                <a:solidFill>
                  <a:srgbClr val="FFFFFF"/>
                </a:solidFill>
                <a:latin typeface="Segoe UI Semilight"/>
                <a:cs typeface="Segoe UI Semilight"/>
              </a:rPr>
              <a:t>agent</a:t>
            </a:r>
            <a:r>
              <a:rPr sz="1800" spc="-2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topology?</a:t>
            </a:r>
            <a:endParaRPr sz="1800">
              <a:latin typeface="Segoe UI Semilight"/>
              <a:cs typeface="Segoe UI Semiligh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981325" y="790511"/>
            <a:ext cx="3376929" cy="3634104"/>
            <a:chOff x="2981325" y="790511"/>
            <a:chExt cx="3376929" cy="3634104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1325" y="790511"/>
              <a:ext cx="3376676" cy="363385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157601" y="966850"/>
              <a:ext cx="2857500" cy="3105150"/>
            </a:xfrm>
            <a:custGeom>
              <a:avLst/>
              <a:gdLst/>
              <a:ahLst/>
              <a:cxnLst/>
              <a:rect l="l" t="t" r="r" b="b"/>
              <a:pathLst>
                <a:path w="2857500" h="3105150">
                  <a:moveTo>
                    <a:pt x="2675254" y="0"/>
                  </a:moveTo>
                  <a:lnTo>
                    <a:pt x="182118" y="0"/>
                  </a:lnTo>
                  <a:lnTo>
                    <a:pt x="133702" y="6505"/>
                  </a:lnTo>
                  <a:lnTo>
                    <a:pt x="90198" y="24863"/>
                  </a:lnTo>
                  <a:lnTo>
                    <a:pt x="53340" y="53340"/>
                  </a:lnTo>
                  <a:lnTo>
                    <a:pt x="24863" y="90198"/>
                  </a:lnTo>
                  <a:lnTo>
                    <a:pt x="6505" y="133702"/>
                  </a:lnTo>
                  <a:lnTo>
                    <a:pt x="0" y="182118"/>
                  </a:lnTo>
                  <a:lnTo>
                    <a:pt x="0" y="2922955"/>
                  </a:lnTo>
                  <a:lnTo>
                    <a:pt x="6505" y="2971371"/>
                  </a:lnTo>
                  <a:lnTo>
                    <a:pt x="24863" y="3014878"/>
                  </a:lnTo>
                  <a:lnTo>
                    <a:pt x="53340" y="3051740"/>
                  </a:lnTo>
                  <a:lnTo>
                    <a:pt x="90198" y="3080219"/>
                  </a:lnTo>
                  <a:lnTo>
                    <a:pt x="133702" y="3098580"/>
                  </a:lnTo>
                  <a:lnTo>
                    <a:pt x="182118" y="3105086"/>
                  </a:lnTo>
                  <a:lnTo>
                    <a:pt x="2675254" y="3105086"/>
                  </a:lnTo>
                  <a:lnTo>
                    <a:pt x="2723679" y="3098580"/>
                  </a:lnTo>
                  <a:lnTo>
                    <a:pt x="2767207" y="3080219"/>
                  </a:lnTo>
                  <a:lnTo>
                    <a:pt x="2804096" y="3051740"/>
                  </a:lnTo>
                  <a:lnTo>
                    <a:pt x="2832603" y="3014878"/>
                  </a:lnTo>
                  <a:lnTo>
                    <a:pt x="2850985" y="2971371"/>
                  </a:lnTo>
                  <a:lnTo>
                    <a:pt x="2857500" y="2922955"/>
                  </a:lnTo>
                  <a:lnTo>
                    <a:pt x="2857500" y="182118"/>
                  </a:lnTo>
                  <a:lnTo>
                    <a:pt x="2850985" y="133702"/>
                  </a:lnTo>
                  <a:lnTo>
                    <a:pt x="2832603" y="90198"/>
                  </a:lnTo>
                  <a:lnTo>
                    <a:pt x="2804096" y="53340"/>
                  </a:lnTo>
                  <a:lnTo>
                    <a:pt x="2767207" y="24863"/>
                  </a:lnTo>
                  <a:lnTo>
                    <a:pt x="2723679" y="6505"/>
                  </a:lnTo>
                  <a:lnTo>
                    <a:pt x="2675254" y="0"/>
                  </a:lnTo>
                  <a:close/>
                </a:path>
              </a:pathLst>
            </a:custGeom>
            <a:solidFill>
              <a:srgbClr val="291E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57601" y="966850"/>
              <a:ext cx="2857500" cy="3105150"/>
            </a:xfrm>
            <a:custGeom>
              <a:avLst/>
              <a:gdLst/>
              <a:ahLst/>
              <a:cxnLst/>
              <a:rect l="l" t="t" r="r" b="b"/>
              <a:pathLst>
                <a:path w="2857500" h="3105150">
                  <a:moveTo>
                    <a:pt x="0" y="182118"/>
                  </a:moveTo>
                  <a:lnTo>
                    <a:pt x="6505" y="133702"/>
                  </a:lnTo>
                  <a:lnTo>
                    <a:pt x="24863" y="90198"/>
                  </a:lnTo>
                  <a:lnTo>
                    <a:pt x="53340" y="53340"/>
                  </a:lnTo>
                  <a:lnTo>
                    <a:pt x="90198" y="24863"/>
                  </a:lnTo>
                  <a:lnTo>
                    <a:pt x="133702" y="6505"/>
                  </a:lnTo>
                  <a:lnTo>
                    <a:pt x="182118" y="0"/>
                  </a:lnTo>
                  <a:lnTo>
                    <a:pt x="2675254" y="0"/>
                  </a:lnTo>
                  <a:lnTo>
                    <a:pt x="2723679" y="6505"/>
                  </a:lnTo>
                  <a:lnTo>
                    <a:pt x="2767207" y="24863"/>
                  </a:lnTo>
                  <a:lnTo>
                    <a:pt x="2804096" y="53340"/>
                  </a:lnTo>
                  <a:lnTo>
                    <a:pt x="2832603" y="90198"/>
                  </a:lnTo>
                  <a:lnTo>
                    <a:pt x="2850985" y="133702"/>
                  </a:lnTo>
                  <a:lnTo>
                    <a:pt x="2857500" y="182118"/>
                  </a:lnTo>
                  <a:lnTo>
                    <a:pt x="2857500" y="2922955"/>
                  </a:lnTo>
                  <a:lnTo>
                    <a:pt x="2850985" y="2971371"/>
                  </a:lnTo>
                  <a:lnTo>
                    <a:pt x="2832603" y="3014878"/>
                  </a:lnTo>
                  <a:lnTo>
                    <a:pt x="2804096" y="3051740"/>
                  </a:lnTo>
                  <a:lnTo>
                    <a:pt x="2767207" y="3080219"/>
                  </a:lnTo>
                  <a:lnTo>
                    <a:pt x="2723679" y="3098580"/>
                  </a:lnTo>
                  <a:lnTo>
                    <a:pt x="2675254" y="3105086"/>
                  </a:lnTo>
                  <a:lnTo>
                    <a:pt x="182118" y="3105086"/>
                  </a:lnTo>
                  <a:lnTo>
                    <a:pt x="133702" y="3098580"/>
                  </a:lnTo>
                  <a:lnTo>
                    <a:pt x="90198" y="3080219"/>
                  </a:lnTo>
                  <a:lnTo>
                    <a:pt x="53340" y="3051740"/>
                  </a:lnTo>
                  <a:lnTo>
                    <a:pt x="24863" y="3014878"/>
                  </a:lnTo>
                  <a:lnTo>
                    <a:pt x="6505" y="2971371"/>
                  </a:lnTo>
                  <a:lnTo>
                    <a:pt x="0" y="2922955"/>
                  </a:lnTo>
                  <a:lnTo>
                    <a:pt x="0" y="182118"/>
                  </a:lnTo>
                  <a:close/>
                </a:path>
              </a:pathLst>
            </a:custGeom>
            <a:ln w="25400">
              <a:solidFill>
                <a:srgbClr val="4750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51909" y="1651444"/>
            <a:ext cx="1458595" cy="20961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41700"/>
              </a:lnSpc>
              <a:spcBef>
                <a:spcPts val="75"/>
              </a:spcBef>
            </a:pPr>
            <a:r>
              <a:rPr sz="2400" spc="-20" dirty="0">
                <a:solidFill>
                  <a:srgbClr val="FFFFFF"/>
                </a:solidFill>
                <a:latin typeface="Segoe UI Semibold"/>
                <a:cs typeface="Segoe UI Semibold"/>
              </a:rPr>
              <a:t>Reasoning </a:t>
            </a:r>
            <a:r>
              <a:rPr sz="24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Planning Modality Learning</a:t>
            </a:r>
            <a:endParaRPr sz="2400">
              <a:latin typeface="Segoe UI Semibold"/>
              <a:cs typeface="Segoe UI Semibold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81325" y="295275"/>
            <a:ext cx="3376929" cy="1529080"/>
            <a:chOff x="2981325" y="295275"/>
            <a:chExt cx="3376929" cy="152908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81325" y="295275"/>
              <a:ext cx="3376676" cy="15286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57601" y="471551"/>
              <a:ext cx="2857500" cy="1057275"/>
            </a:xfrm>
            <a:custGeom>
              <a:avLst/>
              <a:gdLst/>
              <a:ahLst/>
              <a:cxnLst/>
              <a:rect l="l" t="t" r="r" b="b"/>
              <a:pathLst>
                <a:path w="2857500" h="1057275">
                  <a:moveTo>
                    <a:pt x="2758566" y="0"/>
                  </a:moveTo>
                  <a:lnTo>
                    <a:pt x="98806" y="0"/>
                  </a:lnTo>
                  <a:lnTo>
                    <a:pt x="60328" y="7758"/>
                  </a:lnTo>
                  <a:lnTo>
                    <a:pt x="28924" y="28924"/>
                  </a:lnTo>
                  <a:lnTo>
                    <a:pt x="7758" y="60328"/>
                  </a:lnTo>
                  <a:lnTo>
                    <a:pt x="0" y="98806"/>
                  </a:lnTo>
                  <a:lnTo>
                    <a:pt x="0" y="1057275"/>
                  </a:lnTo>
                  <a:lnTo>
                    <a:pt x="2857500" y="1057275"/>
                  </a:lnTo>
                  <a:lnTo>
                    <a:pt x="2857500" y="98806"/>
                  </a:lnTo>
                  <a:lnTo>
                    <a:pt x="2849721" y="60328"/>
                  </a:lnTo>
                  <a:lnTo>
                    <a:pt x="2828512" y="28924"/>
                  </a:lnTo>
                  <a:lnTo>
                    <a:pt x="2797063" y="7758"/>
                  </a:lnTo>
                  <a:lnTo>
                    <a:pt x="2758566" y="0"/>
                  </a:lnTo>
                  <a:close/>
                </a:path>
              </a:pathLst>
            </a:custGeom>
            <a:solidFill>
              <a:srgbClr val="4750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57601" y="471551"/>
              <a:ext cx="2857500" cy="1057275"/>
            </a:xfrm>
            <a:custGeom>
              <a:avLst/>
              <a:gdLst/>
              <a:ahLst/>
              <a:cxnLst/>
              <a:rect l="l" t="t" r="r" b="b"/>
              <a:pathLst>
                <a:path w="2857500" h="1057275">
                  <a:moveTo>
                    <a:pt x="98806" y="0"/>
                  </a:moveTo>
                  <a:lnTo>
                    <a:pt x="2758566" y="0"/>
                  </a:lnTo>
                  <a:lnTo>
                    <a:pt x="2797063" y="7758"/>
                  </a:lnTo>
                  <a:lnTo>
                    <a:pt x="2828512" y="28924"/>
                  </a:lnTo>
                  <a:lnTo>
                    <a:pt x="2849721" y="60328"/>
                  </a:lnTo>
                  <a:lnTo>
                    <a:pt x="2857500" y="98806"/>
                  </a:lnTo>
                  <a:lnTo>
                    <a:pt x="2857500" y="1057275"/>
                  </a:lnTo>
                  <a:lnTo>
                    <a:pt x="0" y="1057275"/>
                  </a:lnTo>
                  <a:lnTo>
                    <a:pt x="0" y="98806"/>
                  </a:lnTo>
                  <a:lnTo>
                    <a:pt x="7758" y="60328"/>
                  </a:lnTo>
                  <a:lnTo>
                    <a:pt x="28924" y="28924"/>
                  </a:lnTo>
                  <a:lnTo>
                    <a:pt x="60328" y="7758"/>
                  </a:lnTo>
                  <a:lnTo>
                    <a:pt x="98806" y="0"/>
                  </a:lnTo>
                  <a:close/>
                </a:path>
              </a:pathLst>
            </a:custGeom>
            <a:ln w="25400">
              <a:solidFill>
                <a:srgbClr val="4750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174180" y="718756"/>
            <a:ext cx="282448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Segoe UI Semilight"/>
                <a:cs typeface="Segoe UI Semilight"/>
              </a:rPr>
              <a:t>How</a:t>
            </a:r>
            <a:r>
              <a:rPr sz="1800" spc="-10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Semilight"/>
                <a:cs typeface="Segoe UI Semilight"/>
              </a:rPr>
              <a:t>to</a:t>
            </a:r>
            <a:r>
              <a:rPr sz="1800" spc="-9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create</a:t>
            </a:r>
            <a:endParaRPr sz="1800">
              <a:latin typeface="Segoe UI Semilight"/>
              <a:cs typeface="Segoe UI Semilight"/>
            </a:endParaRPr>
          </a:p>
          <a:p>
            <a:pPr algn="ctr">
              <a:lnSpc>
                <a:spcPts val="2130"/>
              </a:lnSpc>
            </a:pPr>
            <a:r>
              <a:rPr sz="1800" dirty="0">
                <a:solidFill>
                  <a:srgbClr val="FFFFFF"/>
                </a:solidFill>
                <a:latin typeface="Segoe UI Semilight"/>
                <a:cs typeface="Segoe UI Semilight"/>
              </a:rPr>
              <a:t>highly</a:t>
            </a:r>
            <a:r>
              <a:rPr sz="1800" spc="-9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capable</a:t>
            </a:r>
            <a:r>
              <a:rPr sz="1800" spc="-9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agents?</a:t>
            </a:r>
            <a:endParaRPr sz="1800">
              <a:latin typeface="Segoe UI Semilight"/>
              <a:cs typeface="Segoe UI Semiligh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019800" y="790511"/>
            <a:ext cx="3124200" cy="3634104"/>
            <a:chOff x="6019800" y="790511"/>
            <a:chExt cx="3124200" cy="3634104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19800" y="790511"/>
              <a:ext cx="3124200" cy="363385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196076" y="966850"/>
              <a:ext cx="2857500" cy="3105150"/>
            </a:xfrm>
            <a:custGeom>
              <a:avLst/>
              <a:gdLst/>
              <a:ahLst/>
              <a:cxnLst/>
              <a:rect l="l" t="t" r="r" b="b"/>
              <a:pathLst>
                <a:path w="2857500" h="3105150">
                  <a:moveTo>
                    <a:pt x="2675254" y="0"/>
                  </a:moveTo>
                  <a:lnTo>
                    <a:pt x="182118" y="0"/>
                  </a:lnTo>
                  <a:lnTo>
                    <a:pt x="133702" y="6505"/>
                  </a:lnTo>
                  <a:lnTo>
                    <a:pt x="90198" y="24863"/>
                  </a:lnTo>
                  <a:lnTo>
                    <a:pt x="53340" y="53340"/>
                  </a:lnTo>
                  <a:lnTo>
                    <a:pt x="24863" y="90198"/>
                  </a:lnTo>
                  <a:lnTo>
                    <a:pt x="6505" y="133702"/>
                  </a:lnTo>
                  <a:lnTo>
                    <a:pt x="0" y="182118"/>
                  </a:lnTo>
                  <a:lnTo>
                    <a:pt x="0" y="2922955"/>
                  </a:lnTo>
                  <a:lnTo>
                    <a:pt x="6505" y="2971371"/>
                  </a:lnTo>
                  <a:lnTo>
                    <a:pt x="24863" y="3014878"/>
                  </a:lnTo>
                  <a:lnTo>
                    <a:pt x="53340" y="3051740"/>
                  </a:lnTo>
                  <a:lnTo>
                    <a:pt x="90198" y="3080219"/>
                  </a:lnTo>
                  <a:lnTo>
                    <a:pt x="133702" y="3098580"/>
                  </a:lnTo>
                  <a:lnTo>
                    <a:pt x="182118" y="3105086"/>
                  </a:lnTo>
                  <a:lnTo>
                    <a:pt x="2675254" y="3105086"/>
                  </a:lnTo>
                  <a:lnTo>
                    <a:pt x="2723679" y="3098580"/>
                  </a:lnTo>
                  <a:lnTo>
                    <a:pt x="2767207" y="3080219"/>
                  </a:lnTo>
                  <a:lnTo>
                    <a:pt x="2804096" y="3051740"/>
                  </a:lnTo>
                  <a:lnTo>
                    <a:pt x="2832603" y="3014878"/>
                  </a:lnTo>
                  <a:lnTo>
                    <a:pt x="2850985" y="2971371"/>
                  </a:lnTo>
                  <a:lnTo>
                    <a:pt x="2857500" y="2922955"/>
                  </a:lnTo>
                  <a:lnTo>
                    <a:pt x="2857500" y="182118"/>
                  </a:lnTo>
                  <a:lnTo>
                    <a:pt x="2850985" y="133702"/>
                  </a:lnTo>
                  <a:lnTo>
                    <a:pt x="2832603" y="90198"/>
                  </a:lnTo>
                  <a:lnTo>
                    <a:pt x="2804096" y="53340"/>
                  </a:lnTo>
                  <a:lnTo>
                    <a:pt x="2767207" y="24863"/>
                  </a:lnTo>
                  <a:lnTo>
                    <a:pt x="2723679" y="6505"/>
                  </a:lnTo>
                  <a:lnTo>
                    <a:pt x="2675254" y="0"/>
                  </a:lnTo>
                  <a:close/>
                </a:path>
              </a:pathLst>
            </a:custGeom>
            <a:solidFill>
              <a:srgbClr val="291E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96076" y="966850"/>
              <a:ext cx="2857500" cy="3105150"/>
            </a:xfrm>
            <a:custGeom>
              <a:avLst/>
              <a:gdLst/>
              <a:ahLst/>
              <a:cxnLst/>
              <a:rect l="l" t="t" r="r" b="b"/>
              <a:pathLst>
                <a:path w="2857500" h="3105150">
                  <a:moveTo>
                    <a:pt x="0" y="182118"/>
                  </a:moveTo>
                  <a:lnTo>
                    <a:pt x="6505" y="133702"/>
                  </a:lnTo>
                  <a:lnTo>
                    <a:pt x="24863" y="90198"/>
                  </a:lnTo>
                  <a:lnTo>
                    <a:pt x="53340" y="53340"/>
                  </a:lnTo>
                  <a:lnTo>
                    <a:pt x="90198" y="24863"/>
                  </a:lnTo>
                  <a:lnTo>
                    <a:pt x="133702" y="6505"/>
                  </a:lnTo>
                  <a:lnTo>
                    <a:pt x="182118" y="0"/>
                  </a:lnTo>
                  <a:lnTo>
                    <a:pt x="2675254" y="0"/>
                  </a:lnTo>
                  <a:lnTo>
                    <a:pt x="2723679" y="6505"/>
                  </a:lnTo>
                  <a:lnTo>
                    <a:pt x="2767207" y="24863"/>
                  </a:lnTo>
                  <a:lnTo>
                    <a:pt x="2804096" y="53340"/>
                  </a:lnTo>
                  <a:lnTo>
                    <a:pt x="2832603" y="90198"/>
                  </a:lnTo>
                  <a:lnTo>
                    <a:pt x="2850985" y="133702"/>
                  </a:lnTo>
                  <a:lnTo>
                    <a:pt x="2857500" y="182118"/>
                  </a:lnTo>
                  <a:lnTo>
                    <a:pt x="2857500" y="2922955"/>
                  </a:lnTo>
                  <a:lnTo>
                    <a:pt x="2850985" y="2971371"/>
                  </a:lnTo>
                  <a:lnTo>
                    <a:pt x="2832603" y="3014878"/>
                  </a:lnTo>
                  <a:lnTo>
                    <a:pt x="2804096" y="3051740"/>
                  </a:lnTo>
                  <a:lnTo>
                    <a:pt x="2767207" y="3080219"/>
                  </a:lnTo>
                  <a:lnTo>
                    <a:pt x="2723679" y="3098580"/>
                  </a:lnTo>
                  <a:lnTo>
                    <a:pt x="2675254" y="3105086"/>
                  </a:lnTo>
                  <a:lnTo>
                    <a:pt x="182118" y="3105086"/>
                  </a:lnTo>
                  <a:lnTo>
                    <a:pt x="133702" y="3098580"/>
                  </a:lnTo>
                  <a:lnTo>
                    <a:pt x="90198" y="3080219"/>
                  </a:lnTo>
                  <a:lnTo>
                    <a:pt x="53340" y="3051740"/>
                  </a:lnTo>
                  <a:lnTo>
                    <a:pt x="24863" y="3014878"/>
                  </a:lnTo>
                  <a:lnTo>
                    <a:pt x="6505" y="2971371"/>
                  </a:lnTo>
                  <a:lnTo>
                    <a:pt x="0" y="2922955"/>
                  </a:lnTo>
                  <a:lnTo>
                    <a:pt x="0" y="182118"/>
                  </a:lnTo>
                  <a:close/>
                </a:path>
              </a:pathLst>
            </a:custGeom>
            <a:ln w="25400">
              <a:solidFill>
                <a:srgbClr val="4750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646544" y="1651444"/>
            <a:ext cx="1954530" cy="20961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41700"/>
              </a:lnSpc>
              <a:spcBef>
                <a:spcPts val="75"/>
              </a:spcBef>
            </a:pPr>
            <a:r>
              <a:rPr sz="24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Parallelization Resilience Intent Teaching</a:t>
            </a:r>
            <a:endParaRPr sz="2400">
              <a:latin typeface="Segoe UI Semibold"/>
              <a:cs typeface="Segoe UI Semibold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019800" y="295275"/>
            <a:ext cx="3124200" cy="1529080"/>
            <a:chOff x="6019800" y="295275"/>
            <a:chExt cx="3124200" cy="1529080"/>
          </a:xfrm>
        </p:grpSpPr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9800" y="295275"/>
              <a:ext cx="3124200" cy="15286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196076" y="471551"/>
              <a:ext cx="2857500" cy="1057275"/>
            </a:xfrm>
            <a:custGeom>
              <a:avLst/>
              <a:gdLst/>
              <a:ahLst/>
              <a:cxnLst/>
              <a:rect l="l" t="t" r="r" b="b"/>
              <a:pathLst>
                <a:path w="2857500" h="1057275">
                  <a:moveTo>
                    <a:pt x="2758567" y="0"/>
                  </a:moveTo>
                  <a:lnTo>
                    <a:pt x="98806" y="0"/>
                  </a:lnTo>
                  <a:lnTo>
                    <a:pt x="60328" y="7758"/>
                  </a:lnTo>
                  <a:lnTo>
                    <a:pt x="28924" y="28924"/>
                  </a:lnTo>
                  <a:lnTo>
                    <a:pt x="7758" y="60328"/>
                  </a:lnTo>
                  <a:lnTo>
                    <a:pt x="0" y="98806"/>
                  </a:lnTo>
                  <a:lnTo>
                    <a:pt x="0" y="1057275"/>
                  </a:lnTo>
                  <a:lnTo>
                    <a:pt x="2857500" y="1057275"/>
                  </a:lnTo>
                  <a:lnTo>
                    <a:pt x="2857500" y="98806"/>
                  </a:lnTo>
                  <a:lnTo>
                    <a:pt x="2849721" y="60328"/>
                  </a:lnTo>
                  <a:lnTo>
                    <a:pt x="2828512" y="28924"/>
                  </a:lnTo>
                  <a:lnTo>
                    <a:pt x="2797063" y="7758"/>
                  </a:lnTo>
                  <a:lnTo>
                    <a:pt x="2758567" y="0"/>
                  </a:lnTo>
                  <a:close/>
                </a:path>
              </a:pathLst>
            </a:custGeom>
            <a:solidFill>
              <a:srgbClr val="4750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96076" y="471551"/>
              <a:ext cx="2857500" cy="1057275"/>
            </a:xfrm>
            <a:custGeom>
              <a:avLst/>
              <a:gdLst/>
              <a:ahLst/>
              <a:cxnLst/>
              <a:rect l="l" t="t" r="r" b="b"/>
              <a:pathLst>
                <a:path w="2857500" h="1057275">
                  <a:moveTo>
                    <a:pt x="98806" y="0"/>
                  </a:moveTo>
                  <a:lnTo>
                    <a:pt x="2758567" y="0"/>
                  </a:lnTo>
                  <a:lnTo>
                    <a:pt x="2797063" y="7758"/>
                  </a:lnTo>
                  <a:lnTo>
                    <a:pt x="2828512" y="28924"/>
                  </a:lnTo>
                  <a:lnTo>
                    <a:pt x="2849721" y="60328"/>
                  </a:lnTo>
                  <a:lnTo>
                    <a:pt x="2857500" y="98806"/>
                  </a:lnTo>
                  <a:lnTo>
                    <a:pt x="2857500" y="1057275"/>
                  </a:lnTo>
                  <a:lnTo>
                    <a:pt x="0" y="1057275"/>
                  </a:lnTo>
                  <a:lnTo>
                    <a:pt x="0" y="98806"/>
                  </a:lnTo>
                  <a:lnTo>
                    <a:pt x="7758" y="60328"/>
                  </a:lnTo>
                  <a:lnTo>
                    <a:pt x="28924" y="28924"/>
                  </a:lnTo>
                  <a:lnTo>
                    <a:pt x="60328" y="7758"/>
                  </a:lnTo>
                  <a:lnTo>
                    <a:pt x="98806" y="0"/>
                  </a:lnTo>
                  <a:close/>
                </a:path>
              </a:pathLst>
            </a:custGeom>
            <a:ln w="25400">
              <a:solidFill>
                <a:srgbClr val="4750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12655" y="583565"/>
            <a:ext cx="2824480" cy="83502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413384" marR="405765" algn="ctr">
              <a:lnSpc>
                <a:spcPts val="2100"/>
              </a:lnSpc>
              <a:spcBef>
                <a:spcPts val="225"/>
              </a:spcBef>
            </a:pPr>
            <a:r>
              <a:rPr sz="1800" dirty="0">
                <a:solidFill>
                  <a:srgbClr val="FFFFFF"/>
                </a:solidFill>
                <a:latin typeface="Segoe UI Semilight"/>
                <a:cs typeface="Segoe UI Semilight"/>
              </a:rPr>
              <a:t>How</a:t>
            </a:r>
            <a:r>
              <a:rPr sz="1800" spc="-9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Semilight"/>
                <a:cs typeface="Segoe UI Semilight"/>
              </a:rPr>
              <a:t>to</a:t>
            </a:r>
            <a:r>
              <a:rPr sz="1800" spc="-8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Semilight"/>
                <a:cs typeface="Segoe UI Semilight"/>
              </a:rPr>
              <a:t>enable</a:t>
            </a:r>
            <a:r>
              <a:rPr sz="1800" spc="-5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Segoe UI Semilight"/>
                <a:cs typeface="Segoe UI Semilight"/>
              </a:rPr>
              <a:t>scale, </a:t>
            </a:r>
            <a:r>
              <a:rPr sz="1800" dirty="0">
                <a:solidFill>
                  <a:srgbClr val="FFFFFF"/>
                </a:solidFill>
                <a:latin typeface="Segoe UI Semilight"/>
                <a:cs typeface="Segoe UI Semilight"/>
              </a:rPr>
              <a:t>safety</a:t>
            </a:r>
            <a:r>
              <a:rPr sz="1800" spc="-65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and</a:t>
            </a:r>
            <a:r>
              <a:rPr sz="1800" spc="-100" dirty="0">
                <a:solidFill>
                  <a:srgbClr val="FFFFFF"/>
                </a:solidFill>
                <a:latin typeface="Segoe UI Semilight"/>
                <a:cs typeface="Segoe UI Semi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human agency?</a:t>
            </a:r>
            <a:endParaRPr sz="1800">
              <a:latin typeface="Segoe UI Semilight"/>
              <a:cs typeface="Segoe UI Semiligh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/>
              <a:pPr marL="38100">
                <a:lnSpc>
                  <a:spcPts val="1450"/>
                </a:lnSpc>
              </a:pPr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688"/>
            <a:ext cx="9149080" cy="57150"/>
            <a:chOff x="0" y="47688"/>
            <a:chExt cx="9149080" cy="57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3" y="52451"/>
              <a:ext cx="9139236" cy="476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763" y="52451"/>
              <a:ext cx="9139555" cy="47625"/>
            </a:xfrm>
            <a:custGeom>
              <a:avLst/>
              <a:gdLst/>
              <a:ahLst/>
              <a:cxnLst/>
              <a:rect l="l" t="t" r="r" b="b"/>
              <a:pathLst>
                <a:path w="9139555" h="47625">
                  <a:moveTo>
                    <a:pt x="9139236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39236" y="476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00400" y="2266950"/>
            <a:ext cx="2432050" cy="16780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5400" dirty="0" smtClean="0">
                <a:latin typeface="Arial MT"/>
                <a:cs typeface="Arial MT"/>
              </a:rPr>
              <a:t>Thank You!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01750" y="538797"/>
            <a:ext cx="7283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FFFFFF"/>
                </a:solidFill>
                <a:latin typeface="Segoe UI Semilight"/>
                <a:cs typeface="Segoe UI Semilight"/>
              </a:rPr>
              <a:t>Discord:</a:t>
            </a:r>
            <a:endParaRPr sz="1550">
              <a:latin typeface="Segoe UI Semilight"/>
              <a:cs typeface="Segoe UI Semiligh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50"/>
              </a:lnSpc>
            </a:pPr>
            <a:fld id="{81D60167-4931-47E6-BA6A-407CBD079E47}" type="slidenum">
              <a:rPr spc="-25" dirty="0"/>
              <a:pPr marL="38100">
                <a:lnSpc>
                  <a:spcPts val="1450"/>
                </a:lnSpc>
              </a:pPr>
              <a:t>21</a:t>
            </a:fld>
            <a:endParaRPr spc="-25" dirty="0"/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429</Words>
  <Application>Microsoft Office PowerPoint</Application>
  <PresentationFormat>On-screen Show (16:9)</PresentationFormat>
  <Paragraphs>129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LLM Agents</vt:lpstr>
      <vt:lpstr>Agenda</vt:lpstr>
      <vt:lpstr>What are future AI applications like?</vt:lpstr>
      <vt:lpstr>Examples of Agentic AI</vt:lpstr>
      <vt:lpstr>Key Benefits of Agentic AI</vt:lpstr>
      <vt:lpstr>What if we prohibit shipping from supplier 1 to roastery 2?</vt:lpstr>
      <vt:lpstr>Slide 7</vt:lpstr>
      <vt:lpstr>Agentic Programming</vt:lpstr>
      <vt:lpstr>Agentic Programming</vt:lpstr>
      <vt:lpstr>Agentic AI Framework Desiderata</vt:lpstr>
      <vt:lpstr>Slide 11</vt:lpstr>
      <vt:lpstr>Multi-Agent Orchestration</vt:lpstr>
      <vt:lpstr>Agentic Design Patterns</vt:lpstr>
      <vt:lpstr>Examples of Agentic AI Frameworks</vt:lpstr>
      <vt:lpstr>Slide 15</vt:lpstr>
      <vt:lpstr>Blogpost Writing with Reflection</vt:lpstr>
      <vt:lpstr>Slide 17</vt:lpstr>
      <vt:lpstr>Slide 18</vt:lpstr>
      <vt:lpstr>Slide 19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Agents</dc:title>
  <cp:lastModifiedBy>Admin</cp:lastModifiedBy>
  <cp:revision>2</cp:revision>
  <dcterms:created xsi:type="dcterms:W3CDTF">2025-06-17T02:36:34Z</dcterms:created>
  <dcterms:modified xsi:type="dcterms:W3CDTF">2026-08-06T16:49:58Z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2024-09-24T00:00:00Z</vt:filetime>
  </property>
  <property fmtid="{D5CDD505-2E9C-101B-9397-08002B2CF9AE}" pid="3" name="LastSaved">
    <vt:filetime>2025-06-17T00:00:00Z</vt:filetime>
  </property>
</Properties>
</file>